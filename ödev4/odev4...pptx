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3"/>
    <p:sldId id="257" r:id="rId4"/>
    <p:sldId id="258" r:id="rId5"/>
    <p:sldId id="259" r:id="rId6"/>
    <p:sldId id="260" r:id="rId7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ayt Resim Yer Tutucu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Metin Yer Tutucu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tr-T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tr-TR" dirty="0">
                <a:solidFill>
                  <a:schemeClr val="accent1"/>
                </a:solidFill>
              </a:rPr>
              <a:t>VERİ</a:t>
            </a:r>
            <a:br>
              <a:rPr lang="tr-TR" dirty="0">
                <a:solidFill>
                  <a:schemeClr val="accent1"/>
                </a:solidFill>
              </a:rPr>
            </a:br>
            <a:r>
              <a:rPr lang="tr-TR" dirty="0">
                <a:solidFill>
                  <a:schemeClr val="accent1"/>
                </a:solidFill>
              </a:rPr>
              <a:t>   ORGANİZASYONU</a:t>
            </a:r>
            <a:endParaRPr lang="tr-TR" dirty="0">
              <a:solidFill>
                <a:schemeClr val="accent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090" y="4013835"/>
            <a:ext cx="12106910" cy="2843530"/>
          </a:xfrm>
        </p:spPr>
        <p:txBody>
          <a:bodyPr>
            <a:normAutofit fontScale="90000" lnSpcReduction="20000"/>
          </a:bodyPr>
          <a:lstStyle/>
          <a:p>
            <a:r>
              <a:rPr lang="en-US" altLang="tr-TR" sz="4890"/>
              <a:t>B ve B+ A</a:t>
            </a:r>
            <a:r>
              <a:rPr lang="" altLang="en-US" sz="4890"/>
              <a:t>ğ</a:t>
            </a:r>
            <a:r>
              <a:rPr lang="en-US" altLang="tr-TR" sz="4890"/>
              <a:t>a</a:t>
            </a:r>
            <a:r>
              <a:rPr lang="" altLang="en-US" sz="4890"/>
              <a:t>ç</a:t>
            </a:r>
            <a:r>
              <a:rPr lang="en-US" altLang="tr-TR" sz="4890"/>
              <a:t>lar</a:t>
            </a:r>
            <a:r>
              <a:rPr lang="" altLang="en-US" sz="4890"/>
              <a:t>ı</a:t>
            </a:r>
            <a:r>
              <a:rPr lang="en-US" altLang="tr-TR" sz="4890"/>
              <a:t>n</a:t>
            </a:r>
            <a:r>
              <a:rPr lang="" altLang="en-US" sz="4890"/>
              <a:t>ı</a:t>
            </a:r>
            <a:r>
              <a:rPr lang="en-US" altLang="tr-TR" sz="4890"/>
              <a:t>n G</a:t>
            </a:r>
            <a:r>
              <a:rPr lang="en-US" altLang="en-US" sz="4890"/>
              <a:t>ü</a:t>
            </a:r>
            <a:r>
              <a:rPr lang="en-US" altLang="tr-TR" sz="4890"/>
              <a:t>n</a:t>
            </a:r>
            <a:r>
              <a:rPr lang="en-US" altLang="en-US" sz="4890"/>
              <a:t>ü</a:t>
            </a:r>
            <a:r>
              <a:rPr lang="en-US" altLang="tr-TR" sz="4890"/>
              <a:t>m</a:t>
            </a:r>
            <a:r>
              <a:rPr lang="en-US" altLang="en-US" sz="4890"/>
              <a:t>ü</a:t>
            </a:r>
            <a:r>
              <a:rPr lang="en-US" altLang="tr-TR" sz="4890"/>
              <a:t>zde Kullan</a:t>
            </a:r>
            <a:r>
              <a:rPr lang="" altLang="en-US" sz="4890"/>
              <a:t>ı</a:t>
            </a:r>
            <a:r>
              <a:rPr lang="en-US" altLang="tr-TR" sz="4890"/>
              <a:t>m </a:t>
            </a:r>
            <a:endParaRPr lang="en-US" altLang="tr-TR" sz="4890"/>
          </a:p>
          <a:p>
            <a:r>
              <a:rPr lang="en-US" altLang="tr-TR" sz="4890"/>
              <a:t>Alanlar</a:t>
            </a:r>
            <a:r>
              <a:rPr lang="" altLang="en-US" sz="4890"/>
              <a:t>ı</a:t>
            </a:r>
            <a:endParaRPr lang="" altLang="en-US" sz="4890"/>
          </a:p>
          <a:p>
            <a:endParaRPr lang="" altLang="en-US" sz="3600"/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tr-TR" sz="3600"/>
              <a:t>  ADI SOYADI: YILDIZ ŞAHİN</a:t>
            </a:r>
            <a:endParaRPr lang="tr-TR" sz="3600"/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tr-TR" sz="3600"/>
              <a:t>  NUMARA: 02240224176</a:t>
            </a:r>
            <a:endParaRPr lang="" altLang="en-US" sz="3600"/>
          </a:p>
          <a:p>
            <a:endParaRPr lang="tr-TR" sz="3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tr-TR"/>
              <a:t>Veri </a:t>
            </a:r>
            <a:r>
              <a:rPr lang="tr-TR" altLang="en-US"/>
              <a:t>T</a:t>
            </a:r>
            <a:r>
              <a:rPr lang="en-US" altLang="tr-TR"/>
              <a:t>abanlar</a:t>
            </a:r>
            <a:r>
              <a:rPr lang="" altLang="en-US"/>
              <a:t>ı</a:t>
            </a:r>
            <a:r>
              <a:rPr lang="en-US" altLang="tr-TR"/>
              <a:t>nda </a:t>
            </a:r>
            <a:r>
              <a:rPr lang="tr-TR" altLang="en-US"/>
              <a:t>K</a:t>
            </a:r>
            <a:r>
              <a:rPr lang="en-US" altLang="tr-TR"/>
              <a:t>ullan</a:t>
            </a:r>
            <a:r>
              <a:rPr lang="" altLang="en-US"/>
              <a:t>ı</a:t>
            </a:r>
            <a:r>
              <a:rPr lang="en-US" altLang="tr-TR"/>
              <a:t>m</a:t>
            </a:r>
            <a:r>
              <a:rPr lang="" altLang="en-US"/>
              <a:t>ı</a:t>
            </a:r>
            <a:br>
              <a:rPr lang="tr-TR"/>
            </a:br>
            <a:r>
              <a:rPr lang="tr-TR"/>
              <a:t>B Ağaçları:</a:t>
            </a:r>
            <a:endParaRPr lang="tr-TR"/>
          </a:p>
        </p:txBody>
      </p:sp>
      <p:pic>
        <p:nvPicPr>
          <p:cNvPr id="6" name="İçerik Yer Tutucu 5" descr="b ağacı 2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023100" y="1691640"/>
            <a:ext cx="4581525" cy="3873500"/>
          </a:xfrm>
          <a:prstGeom prst="rect">
            <a:avLst/>
          </a:prstGeom>
        </p:spPr>
      </p:pic>
      <p:sp>
        <p:nvSpPr>
          <p:cNvPr id="7" name="Metin Kutusu 6"/>
          <p:cNvSpPr txBox="1"/>
          <p:nvPr/>
        </p:nvSpPr>
        <p:spPr>
          <a:xfrm>
            <a:off x="904875" y="1691005"/>
            <a:ext cx="5191125" cy="41452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tr-TR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</a:rPr>
              <a:t>Veritaban</a:t>
            </a:r>
            <a:r>
              <a:rPr lang="" altLang="en-US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</a:rPr>
              <a:t>ı İ</a:t>
            </a:r>
            <a:r>
              <a:rPr lang="en-US" altLang="tr-TR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</a:rPr>
              <a:t>ndeksleme (Indexing):</a:t>
            </a:r>
            <a:r>
              <a:rPr lang="en-US" altLang="tr-TR"/>
              <a:t> Tablo taramas</a:t>
            </a:r>
            <a:r>
              <a:rPr lang="" altLang="en-US"/>
              <a:t>ı </a:t>
            </a:r>
            <a:r>
              <a:rPr lang="en-US" altLang="tr-TR"/>
              <a:t>yapmadan kay</a:t>
            </a:r>
            <a:r>
              <a:rPr lang="" altLang="en-US"/>
              <a:t>ı</a:t>
            </a:r>
            <a:r>
              <a:rPr lang="en-US" altLang="tr-TR"/>
              <a:t>tlara do</a:t>
            </a:r>
            <a:r>
              <a:rPr lang="" altLang="en-US"/>
              <a:t>ğ</a:t>
            </a:r>
            <a:r>
              <a:rPr lang="en-US" altLang="tr-TR"/>
              <a:t>rudan ula</a:t>
            </a:r>
            <a:r>
              <a:rPr lang="" altLang="en-US"/>
              <a:t>ş</a:t>
            </a:r>
            <a:r>
              <a:rPr lang="en-US" altLang="tr-TR"/>
              <a:t>mak i</a:t>
            </a:r>
            <a:r>
              <a:rPr lang="" altLang="en-US"/>
              <a:t>ç</a:t>
            </a:r>
            <a:r>
              <a:rPr lang="en-US" altLang="tr-TR"/>
              <a:t>in olu</a:t>
            </a:r>
            <a:r>
              <a:rPr lang="" altLang="en-US"/>
              <a:t>ş</a:t>
            </a:r>
            <a:r>
              <a:rPr lang="en-US" altLang="tr-TR"/>
              <a:t>turulan birincil indekslerin (Primary Index) temelini olu</a:t>
            </a:r>
            <a:r>
              <a:rPr lang="" altLang="en-US"/>
              <a:t>ş</a:t>
            </a:r>
            <a:r>
              <a:rPr lang="en-US" altLang="tr-TR"/>
              <a:t>turur.</a:t>
            </a:r>
            <a:endParaRPr lang="en-US" altLang="tr-TR"/>
          </a:p>
          <a:p>
            <a:endParaRPr lang="en-US" altLang="tr-TR"/>
          </a:p>
          <a:p>
            <a:r>
              <a:rPr lang="" altLang="en-US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</a:rPr>
              <a:t>İ</a:t>
            </a:r>
            <a:r>
              <a:rPr lang="en-US" altLang="tr-TR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</a:rPr>
              <a:t>kincil Depolama Optimizasyonu:</a:t>
            </a:r>
            <a:r>
              <a:rPr lang="en-US" altLang="tr-TR"/>
              <a:t> Sabit diskler (HDD) veya SSD'ler </a:t>
            </a:r>
            <a:r>
              <a:rPr lang="en-US" altLang="en-US"/>
              <a:t>ü</a:t>
            </a:r>
            <a:r>
              <a:rPr lang="en-US" altLang="tr-TR"/>
              <a:t>zerindeki b</a:t>
            </a:r>
            <a:r>
              <a:rPr lang="en-US" altLang="en-US"/>
              <a:t>ü</a:t>
            </a:r>
            <a:r>
              <a:rPr lang="en-US" altLang="tr-TR"/>
              <a:t>y</a:t>
            </a:r>
            <a:r>
              <a:rPr lang="en-US" altLang="en-US"/>
              <a:t>ü</a:t>
            </a:r>
            <a:r>
              <a:rPr lang="en-US" altLang="tr-TR"/>
              <a:t>k veri bloklar</a:t>
            </a:r>
            <a:r>
              <a:rPr lang="" altLang="en-US"/>
              <a:t>ı</a:t>
            </a:r>
            <a:r>
              <a:rPr lang="en-US" altLang="tr-TR"/>
              <a:t>n</a:t>
            </a:r>
            <a:r>
              <a:rPr lang="" altLang="en-US"/>
              <a:t>ı</a:t>
            </a:r>
            <a:r>
              <a:rPr lang="en-US" altLang="tr-TR"/>
              <a:t>n okunmas</a:t>
            </a:r>
            <a:r>
              <a:rPr lang="" altLang="en-US"/>
              <a:t>ı</a:t>
            </a:r>
            <a:r>
              <a:rPr lang="en-US" altLang="tr-TR"/>
              <a:t>n</a:t>
            </a:r>
            <a:r>
              <a:rPr lang="" altLang="en-US"/>
              <a:t>ı </a:t>
            </a:r>
            <a:r>
              <a:rPr lang="en-US" altLang="tr-TR"/>
              <a:t>en aza indirerek disk I/O performans</a:t>
            </a:r>
            <a:r>
              <a:rPr lang="" altLang="en-US"/>
              <a:t>ı</a:t>
            </a:r>
            <a:r>
              <a:rPr lang="en-US" altLang="tr-TR"/>
              <a:t>n</a:t>
            </a:r>
            <a:r>
              <a:rPr lang="" altLang="en-US"/>
              <a:t>ı </a:t>
            </a:r>
            <a:r>
              <a:rPr lang="en-US" altLang="tr-TR"/>
              <a:t>art</a:t>
            </a:r>
            <a:r>
              <a:rPr lang="" altLang="en-US"/>
              <a:t>ı</a:t>
            </a:r>
            <a:r>
              <a:rPr lang="en-US" altLang="tr-TR"/>
              <a:t>r</a:t>
            </a:r>
            <a:r>
              <a:rPr lang="" altLang="en-US"/>
              <a:t>ı</a:t>
            </a:r>
            <a:r>
              <a:rPr lang="en-US" altLang="tr-TR"/>
              <a:t>r.</a:t>
            </a:r>
            <a:endParaRPr lang="en-US" altLang="tr-TR"/>
          </a:p>
          <a:p>
            <a:endParaRPr lang="en-US" altLang="tr-TR"/>
          </a:p>
          <a:p>
            <a:r>
              <a:rPr lang="en-US" altLang="tr-TR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</a:rPr>
              <a:t>Aral</a:t>
            </a:r>
            <a:r>
              <a:rPr lang="" altLang="en-US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</a:rPr>
              <a:t>ı</a:t>
            </a:r>
            <a:r>
              <a:rPr lang="en-US" altLang="tr-TR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</a:rPr>
              <a:t>k Sorgular</a:t>
            </a:r>
            <a:r>
              <a:rPr lang="" altLang="en-US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</a:rPr>
              <a:t>ı (</a:t>
            </a:r>
            <a:r>
              <a:rPr lang="en-US" altLang="tr-TR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</a:rPr>
              <a:t>Range Queries):</a:t>
            </a:r>
            <a:r>
              <a:rPr lang="en-US" altLang="tr-TR"/>
              <a:t> S</a:t>
            </a:r>
            <a:r>
              <a:rPr lang="" altLang="en-US"/>
              <a:t>ı</a:t>
            </a:r>
            <a:r>
              <a:rPr lang="en-US" altLang="tr-TR"/>
              <a:t>ral</a:t>
            </a:r>
            <a:r>
              <a:rPr lang="" altLang="en-US"/>
              <a:t>ı </a:t>
            </a:r>
            <a:r>
              <a:rPr lang="en-US" altLang="tr-TR"/>
              <a:t>yap</a:t>
            </a:r>
            <a:r>
              <a:rPr lang="" altLang="en-US"/>
              <a:t>ı</a:t>
            </a:r>
            <a:r>
              <a:rPr lang="en-US" altLang="tr-TR"/>
              <a:t>s</a:t>
            </a:r>
            <a:r>
              <a:rPr lang="" altLang="en-US"/>
              <a:t>ı </a:t>
            </a:r>
            <a:r>
              <a:rPr lang="en-US" altLang="tr-TR"/>
              <a:t>sayesinde "A ile Z aras</a:t>
            </a:r>
            <a:r>
              <a:rPr lang="" altLang="en-US"/>
              <a:t>ı</a:t>
            </a:r>
            <a:r>
              <a:rPr lang="en-US" altLang="tr-TR"/>
              <a:t>ndaki" veya belirli bir tarih aral</a:t>
            </a:r>
            <a:r>
              <a:rPr lang="" altLang="en-US"/>
              <a:t>ığı</a:t>
            </a:r>
            <a:r>
              <a:rPr lang="en-US" altLang="tr-TR"/>
              <a:t>ndaki verilerin verimli bir </a:t>
            </a:r>
            <a:r>
              <a:rPr lang="" altLang="en-US"/>
              <a:t>ş</a:t>
            </a:r>
            <a:r>
              <a:rPr lang="en-US" altLang="tr-TR"/>
              <a:t>ekilde </a:t>
            </a:r>
            <a:r>
              <a:rPr lang="" altLang="en-US"/>
              <a:t>ç</a:t>
            </a:r>
            <a:r>
              <a:rPr lang="en-US" altLang="tr-TR"/>
              <a:t>ekilmesine olanak tan</a:t>
            </a:r>
            <a:r>
              <a:rPr lang="" altLang="en-US"/>
              <a:t>ı</a:t>
            </a:r>
            <a:r>
              <a:rPr lang="en-US" altLang="tr-TR"/>
              <a:t>r.</a:t>
            </a:r>
            <a:endParaRPr lang="en-US" altLang="tr-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tr-TR" altLang="en-US"/>
              <a:t>Veri Tabanlarında Kullanımı</a:t>
            </a:r>
            <a:br>
              <a:rPr lang="tr-TR" altLang="en-US"/>
            </a:br>
            <a:r>
              <a:rPr lang="tr-TR" altLang="en-US"/>
              <a:t>B+ Ağaçları:</a:t>
            </a:r>
            <a:endParaRPr lang="tr-TR" altLang="en-US"/>
          </a:p>
        </p:txBody>
      </p:sp>
      <p:pic>
        <p:nvPicPr>
          <p:cNvPr id="4" name="İçerik Yer Tutucu 3" descr="b+ ağacı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096000" y="1834515"/>
            <a:ext cx="5602605" cy="4351655"/>
          </a:xfrm>
          <a:prstGeom prst="rect">
            <a:avLst/>
          </a:prstGeom>
        </p:spPr>
      </p:pic>
      <p:sp>
        <p:nvSpPr>
          <p:cNvPr id="5" name="Metin Kutusu 4"/>
          <p:cNvSpPr txBox="1"/>
          <p:nvPr/>
        </p:nvSpPr>
        <p:spPr>
          <a:xfrm>
            <a:off x="276860" y="1834515"/>
            <a:ext cx="5394960" cy="45542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tr-TR" sz="2000">
                <a:solidFill>
                  <a:schemeClr val="accent6">
                    <a:lumMod val="75000"/>
                  </a:schemeClr>
                </a:solidFill>
              </a:rPr>
              <a:t>1. Veri Taban</a:t>
            </a:r>
            <a:r>
              <a:rPr lang="" altLang="en-US" sz="2000">
                <a:solidFill>
                  <a:schemeClr val="accent6">
                    <a:lumMod val="75000"/>
                  </a:schemeClr>
                </a:solidFill>
              </a:rPr>
              <a:t>ı İ</a:t>
            </a:r>
            <a:r>
              <a:rPr lang="en-US" altLang="tr-TR" sz="2000">
                <a:solidFill>
                  <a:schemeClr val="accent6">
                    <a:lumMod val="75000"/>
                  </a:schemeClr>
                </a:solidFill>
              </a:rPr>
              <a:t>ndeksleme (Database Indexing)</a:t>
            </a:r>
            <a:r>
              <a:rPr lang="tr-TR" altLang="en-US" sz="2000">
                <a:solidFill>
                  <a:schemeClr val="accent6">
                    <a:lumMod val="75000"/>
                  </a:schemeClr>
                </a:solidFill>
              </a:rPr>
              <a:t>:</a:t>
            </a:r>
            <a:endParaRPr lang="tr-TR" altLang="en-US" sz="200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altLang="tr-TR">
                <a:solidFill>
                  <a:schemeClr val="tx1"/>
                </a:solidFill>
              </a:rPr>
              <a:t>Temel </a:t>
            </a:r>
            <a:r>
              <a:rPr lang="" altLang="en-US">
                <a:solidFill>
                  <a:schemeClr val="tx1"/>
                </a:solidFill>
              </a:rPr>
              <a:t>İ</a:t>
            </a:r>
            <a:r>
              <a:rPr lang="en-US" altLang="tr-TR">
                <a:solidFill>
                  <a:schemeClr val="tx1"/>
                </a:solidFill>
              </a:rPr>
              <a:t>ndeksler: Birincil anahtar (Primary Key) s</a:t>
            </a:r>
            <a:r>
              <a:rPr lang="en-US" altLang="en-US">
                <a:solidFill>
                  <a:schemeClr val="tx1"/>
                </a:solidFill>
              </a:rPr>
              <a:t>ü</a:t>
            </a:r>
            <a:r>
              <a:rPr lang="en-US" altLang="tr-TR">
                <a:solidFill>
                  <a:schemeClr val="tx1"/>
                </a:solidFill>
              </a:rPr>
              <a:t>tunlar</a:t>
            </a:r>
            <a:r>
              <a:rPr lang="" altLang="en-US">
                <a:solidFill>
                  <a:schemeClr val="tx1"/>
                </a:solidFill>
              </a:rPr>
              <a:t>ı</a:t>
            </a:r>
            <a:r>
              <a:rPr lang="en-US" altLang="tr-TR">
                <a:solidFill>
                  <a:schemeClr val="tx1"/>
                </a:solidFill>
              </a:rPr>
              <a:t>nda, verilerin diske s</a:t>
            </a:r>
            <a:r>
              <a:rPr lang="" altLang="en-US">
                <a:solidFill>
                  <a:schemeClr val="tx1"/>
                </a:solidFill>
              </a:rPr>
              <a:t>ı</a:t>
            </a:r>
            <a:r>
              <a:rPr lang="en-US" altLang="tr-TR">
                <a:solidFill>
                  <a:schemeClr val="tx1"/>
                </a:solidFill>
              </a:rPr>
              <a:t>ral</a:t>
            </a:r>
            <a:r>
              <a:rPr lang="" altLang="en-US">
                <a:solidFill>
                  <a:schemeClr val="tx1"/>
                </a:solidFill>
              </a:rPr>
              <a:t>ı </a:t>
            </a:r>
            <a:r>
              <a:rPr lang="en-US" altLang="tr-TR">
                <a:solidFill>
                  <a:schemeClr val="tx1"/>
                </a:solidFill>
              </a:rPr>
              <a:t>ve h</a:t>
            </a:r>
            <a:r>
              <a:rPr lang="" altLang="en-US">
                <a:solidFill>
                  <a:schemeClr val="tx1"/>
                </a:solidFill>
              </a:rPr>
              <a:t>ı</a:t>
            </a:r>
            <a:r>
              <a:rPr lang="en-US" altLang="tr-TR">
                <a:solidFill>
                  <a:schemeClr val="tx1"/>
                </a:solidFill>
              </a:rPr>
              <a:t>zl</a:t>
            </a:r>
            <a:r>
              <a:rPr lang="" altLang="en-US">
                <a:solidFill>
                  <a:schemeClr val="tx1"/>
                </a:solidFill>
              </a:rPr>
              <a:t>ı </a:t>
            </a:r>
            <a:r>
              <a:rPr lang="en-US" altLang="tr-TR">
                <a:solidFill>
                  <a:schemeClr val="tx1"/>
                </a:solidFill>
              </a:rPr>
              <a:t>bir </a:t>
            </a:r>
            <a:r>
              <a:rPr lang="" altLang="en-US">
                <a:solidFill>
                  <a:schemeClr val="tx1"/>
                </a:solidFill>
              </a:rPr>
              <a:t>ş</a:t>
            </a:r>
            <a:r>
              <a:rPr lang="en-US" altLang="tr-TR">
                <a:solidFill>
                  <a:schemeClr val="tx1"/>
                </a:solidFill>
              </a:rPr>
              <a:t>ekilde kaydedilmesini / aranmas</a:t>
            </a:r>
            <a:r>
              <a:rPr lang="" altLang="en-US">
                <a:solidFill>
                  <a:schemeClr val="tx1"/>
                </a:solidFill>
              </a:rPr>
              <a:t>ı</a:t>
            </a:r>
            <a:r>
              <a:rPr lang="en-US" altLang="tr-TR">
                <a:solidFill>
                  <a:schemeClr val="tx1"/>
                </a:solidFill>
              </a:rPr>
              <a:t>n</a:t>
            </a:r>
            <a:r>
              <a:rPr lang="" altLang="en-US">
                <a:solidFill>
                  <a:schemeClr val="tx1"/>
                </a:solidFill>
              </a:rPr>
              <a:t>ı </a:t>
            </a:r>
            <a:r>
              <a:rPr lang="en-US" altLang="tr-TR">
                <a:solidFill>
                  <a:schemeClr val="tx1"/>
                </a:solidFill>
              </a:rPr>
              <a:t>sa</a:t>
            </a:r>
            <a:r>
              <a:rPr lang="" altLang="en-US">
                <a:solidFill>
                  <a:schemeClr val="tx1"/>
                </a:solidFill>
              </a:rPr>
              <a:t>ğ</a:t>
            </a:r>
            <a:r>
              <a:rPr lang="en-US" altLang="tr-TR">
                <a:solidFill>
                  <a:schemeClr val="tx1"/>
                </a:solidFill>
              </a:rPr>
              <a:t>lar.</a:t>
            </a:r>
            <a:r>
              <a:rPr lang="" altLang="en-US">
                <a:solidFill>
                  <a:schemeClr val="tx1"/>
                </a:solidFill>
              </a:rPr>
              <a:t>İ</a:t>
            </a:r>
            <a:r>
              <a:rPr lang="en-US" altLang="tr-TR">
                <a:solidFill>
                  <a:schemeClr val="tx1"/>
                </a:solidFill>
              </a:rPr>
              <a:t>kincil </a:t>
            </a:r>
            <a:r>
              <a:rPr lang="" altLang="en-US">
                <a:solidFill>
                  <a:schemeClr val="tx1"/>
                </a:solidFill>
              </a:rPr>
              <a:t>İ</a:t>
            </a:r>
            <a:r>
              <a:rPr lang="en-US" altLang="tr-TR">
                <a:solidFill>
                  <a:schemeClr val="tx1"/>
                </a:solidFill>
              </a:rPr>
              <a:t>ndeksler (Secondary Indexes): Tablodaki s</a:t>
            </a:r>
            <a:r>
              <a:rPr lang="" altLang="en-US">
                <a:solidFill>
                  <a:schemeClr val="tx1"/>
                </a:solidFill>
              </a:rPr>
              <a:t>ı</a:t>
            </a:r>
            <a:r>
              <a:rPr lang="en-US" altLang="tr-TR">
                <a:solidFill>
                  <a:schemeClr val="tx1"/>
                </a:solidFill>
              </a:rPr>
              <a:t>ral</a:t>
            </a:r>
            <a:r>
              <a:rPr lang="" altLang="en-US">
                <a:solidFill>
                  <a:schemeClr val="tx1"/>
                </a:solidFill>
              </a:rPr>
              <a:t>ı </a:t>
            </a:r>
            <a:r>
              <a:rPr lang="en-US" altLang="tr-TR">
                <a:solidFill>
                  <a:schemeClr val="tx1"/>
                </a:solidFill>
              </a:rPr>
              <a:t>olmayan (</a:t>
            </a:r>
            <a:r>
              <a:rPr lang="en-US" altLang="en-US">
                <a:solidFill>
                  <a:schemeClr val="tx1"/>
                </a:solidFill>
              </a:rPr>
              <a:t>ö</a:t>
            </a:r>
            <a:r>
              <a:rPr lang="en-US" altLang="tr-TR">
                <a:solidFill>
                  <a:schemeClr val="tx1"/>
                </a:solidFill>
              </a:rPr>
              <a:t>rne</a:t>
            </a:r>
            <a:r>
              <a:rPr lang="" altLang="en-US">
                <a:solidFill>
                  <a:schemeClr val="tx1"/>
                </a:solidFill>
              </a:rPr>
              <a:t>ğ</a:t>
            </a:r>
            <a:r>
              <a:rPr lang="en-US" altLang="tr-TR">
                <a:solidFill>
                  <a:schemeClr val="tx1"/>
                </a:solidFill>
              </a:rPr>
              <a:t>in e-posta veya soyisim) s</a:t>
            </a:r>
            <a:r>
              <a:rPr lang="en-US" altLang="en-US">
                <a:solidFill>
                  <a:schemeClr val="tx1"/>
                </a:solidFill>
              </a:rPr>
              <a:t>ü</a:t>
            </a:r>
            <a:r>
              <a:rPr lang="en-US" altLang="tr-TR">
                <a:solidFill>
                  <a:schemeClr val="tx1"/>
                </a:solidFill>
              </a:rPr>
              <a:t>tunlar </a:t>
            </a:r>
            <a:r>
              <a:rPr lang="en-US" altLang="en-US">
                <a:solidFill>
                  <a:schemeClr val="tx1"/>
                </a:solidFill>
              </a:rPr>
              <a:t>ü</a:t>
            </a:r>
            <a:r>
              <a:rPr lang="en-US" altLang="tr-TR">
                <a:solidFill>
                  <a:schemeClr val="tx1"/>
                </a:solidFill>
              </a:rPr>
              <a:t>zerinden h</a:t>
            </a:r>
            <a:r>
              <a:rPr lang="" altLang="en-US">
                <a:solidFill>
                  <a:schemeClr val="tx1"/>
                </a:solidFill>
              </a:rPr>
              <a:t>ı</a:t>
            </a:r>
            <a:r>
              <a:rPr lang="en-US" altLang="tr-TR">
                <a:solidFill>
                  <a:schemeClr val="tx1"/>
                </a:solidFill>
              </a:rPr>
              <a:t>zl</a:t>
            </a:r>
            <a:r>
              <a:rPr lang="" altLang="en-US">
                <a:solidFill>
                  <a:schemeClr val="tx1"/>
                </a:solidFill>
              </a:rPr>
              <a:t>ı </a:t>
            </a:r>
            <a:r>
              <a:rPr lang="en-US" altLang="tr-TR">
                <a:solidFill>
                  <a:schemeClr val="tx1"/>
                </a:solidFill>
              </a:rPr>
              <a:t>sorgulama yap</a:t>
            </a:r>
            <a:r>
              <a:rPr lang="" altLang="en-US">
                <a:solidFill>
                  <a:schemeClr val="tx1"/>
                </a:solidFill>
              </a:rPr>
              <a:t>ı</a:t>
            </a:r>
            <a:r>
              <a:rPr lang="en-US" altLang="tr-TR">
                <a:solidFill>
                  <a:schemeClr val="tx1"/>
                </a:solidFill>
              </a:rPr>
              <a:t>lmas</a:t>
            </a:r>
            <a:r>
              <a:rPr lang="" altLang="en-US">
                <a:solidFill>
                  <a:schemeClr val="tx1"/>
                </a:solidFill>
              </a:rPr>
              <a:t>ı</a:t>
            </a:r>
            <a:r>
              <a:rPr lang="en-US" altLang="tr-TR">
                <a:solidFill>
                  <a:schemeClr val="tx1"/>
                </a:solidFill>
              </a:rPr>
              <a:t>na imk</a:t>
            </a:r>
            <a:r>
              <a:rPr lang="en-US" altLang="en-US">
                <a:solidFill>
                  <a:schemeClr val="tx1"/>
                </a:solidFill>
              </a:rPr>
              <a:t>â</a:t>
            </a:r>
            <a:r>
              <a:rPr lang="en-US" altLang="tr-TR">
                <a:solidFill>
                  <a:schemeClr val="tx1"/>
                </a:solidFill>
              </a:rPr>
              <a:t>n tan</a:t>
            </a:r>
            <a:r>
              <a:rPr lang="" altLang="en-US">
                <a:solidFill>
                  <a:schemeClr val="tx1"/>
                </a:solidFill>
              </a:rPr>
              <a:t>ı</a:t>
            </a:r>
            <a:r>
              <a:rPr lang="en-US" altLang="tr-TR">
                <a:solidFill>
                  <a:schemeClr val="tx1"/>
                </a:solidFill>
              </a:rPr>
              <a:t>r.</a:t>
            </a:r>
            <a:endParaRPr lang="en-US" altLang="tr-TR">
              <a:solidFill>
                <a:schemeClr val="tx1"/>
              </a:solidFill>
            </a:endParaRPr>
          </a:p>
          <a:p>
            <a:endParaRPr lang="en-US" altLang="tr-TR" sz="2000">
              <a:solidFill>
                <a:schemeClr val="tx1"/>
              </a:solidFill>
            </a:endParaRPr>
          </a:p>
          <a:p>
            <a:r>
              <a:rPr lang="en-US" altLang="tr-TR" sz="2000">
                <a:solidFill>
                  <a:schemeClr val="accent6">
                    <a:lumMod val="75000"/>
                  </a:schemeClr>
                </a:solidFill>
              </a:rPr>
              <a:t>2. Aral</a:t>
            </a:r>
            <a:r>
              <a:rPr lang="" altLang="en-US" sz="2000">
                <a:solidFill>
                  <a:schemeClr val="accent6">
                    <a:lumMod val="75000"/>
                  </a:schemeClr>
                </a:solidFill>
              </a:rPr>
              <a:t>ı</a:t>
            </a:r>
            <a:r>
              <a:rPr lang="en-US" altLang="tr-TR" sz="2000">
                <a:solidFill>
                  <a:schemeClr val="accent6">
                    <a:lumMod val="75000"/>
                  </a:schemeClr>
                </a:solidFill>
              </a:rPr>
              <a:t>k Sorgular</a:t>
            </a:r>
            <a:r>
              <a:rPr lang="" altLang="en-US" sz="2000">
                <a:solidFill>
                  <a:schemeClr val="accent6">
                    <a:lumMod val="75000"/>
                  </a:schemeClr>
                </a:solidFill>
              </a:rPr>
              <a:t>ı (</a:t>
            </a:r>
            <a:r>
              <a:rPr lang="en-US" altLang="tr-TR" sz="2000">
                <a:solidFill>
                  <a:schemeClr val="accent6">
                    <a:lumMod val="75000"/>
                  </a:schemeClr>
                </a:solidFill>
              </a:rPr>
              <a:t>Range Queries)</a:t>
            </a:r>
            <a:r>
              <a:rPr lang="tr-TR" altLang="en-US" sz="2000">
                <a:solidFill>
                  <a:schemeClr val="accent6">
                    <a:lumMod val="75000"/>
                  </a:schemeClr>
                </a:solidFill>
              </a:rPr>
              <a:t>:</a:t>
            </a:r>
            <a:endParaRPr lang="en-US" altLang="tr-TR" sz="200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altLang="tr-TR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B+ a</a:t>
            </a:r>
            <a:r>
              <a:rPr lang="" altLang="en-US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ğ</a:t>
            </a:r>
            <a:r>
              <a:rPr lang="en-US" altLang="tr-TR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a</a:t>
            </a:r>
            <a:r>
              <a:rPr lang="" altLang="en-US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ç</a:t>
            </a:r>
            <a:r>
              <a:rPr lang="en-US" altLang="tr-TR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lar</a:t>
            </a:r>
            <a:r>
              <a:rPr lang="" altLang="en-US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ı</a:t>
            </a:r>
            <a:r>
              <a:rPr lang="en-US" altLang="tr-TR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nda sadece yaprak (leaf) d</a:t>
            </a:r>
            <a:r>
              <a:rPr lang="en-US" altLang="en-US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ü</a:t>
            </a:r>
            <a:r>
              <a:rPr lang="" altLang="en-US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ğ</a:t>
            </a:r>
            <a:r>
              <a:rPr lang="en-US" altLang="en-US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ü</a:t>
            </a:r>
            <a:r>
              <a:rPr lang="en-US" altLang="tr-TR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mler ger</a:t>
            </a:r>
            <a:r>
              <a:rPr lang="" altLang="en-US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ç</a:t>
            </a:r>
            <a:r>
              <a:rPr lang="en-US" altLang="tr-TR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ek veriye veya veri adreslerine i</a:t>
            </a:r>
            <a:r>
              <a:rPr lang="" altLang="en-US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ş</a:t>
            </a:r>
            <a:r>
              <a:rPr lang="en-US" altLang="tr-TR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aret eder ve bu yapraklar birbirine yatay ba</a:t>
            </a:r>
            <a:r>
              <a:rPr lang="" altLang="en-US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ğ</a:t>
            </a:r>
            <a:r>
              <a:rPr lang="en-US" altLang="tr-TR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lant</a:t>
            </a:r>
            <a:r>
              <a:rPr lang="" altLang="en-US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ı</a:t>
            </a:r>
            <a:r>
              <a:rPr lang="en-US" altLang="tr-TR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larla (linked list) ba</a:t>
            </a:r>
            <a:r>
              <a:rPr lang="" altLang="en-US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ğ</a:t>
            </a:r>
            <a:r>
              <a:rPr lang="en-US" altLang="tr-TR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l</a:t>
            </a:r>
            <a:r>
              <a:rPr lang="" altLang="en-US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ı</a:t>
            </a:r>
            <a:r>
              <a:rPr lang="en-US" altLang="tr-TR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d</a:t>
            </a:r>
            <a:r>
              <a:rPr lang="" altLang="en-US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ı</a:t>
            </a:r>
            <a:r>
              <a:rPr lang="en-US" altLang="tr-TR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r.Bu sayede "Ya</a:t>
            </a:r>
            <a:r>
              <a:rPr lang="" altLang="en-US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şı 20 </a:t>
            </a:r>
            <a:r>
              <a:rPr lang="en-US" altLang="tr-TR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ile 30 aras</a:t>
            </a:r>
            <a:r>
              <a:rPr lang="" altLang="en-US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ı</a:t>
            </a:r>
            <a:r>
              <a:rPr lang="en-US" altLang="tr-TR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nda olanlar" veya "01.01.2026 ile 31.01.2026 aras</a:t>
            </a:r>
            <a:r>
              <a:rPr lang="" altLang="en-US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ı</a:t>
            </a:r>
            <a:r>
              <a:rPr lang="en-US" altLang="tr-TR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ndaki i</a:t>
            </a:r>
            <a:r>
              <a:rPr lang="" altLang="en-US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ş</a:t>
            </a:r>
            <a:r>
              <a:rPr lang="en-US" altLang="tr-TR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lemler" gibi aral</a:t>
            </a:r>
            <a:r>
              <a:rPr lang="" altLang="en-US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ı</a:t>
            </a:r>
            <a:r>
              <a:rPr lang="en-US" altLang="tr-TR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k sorgular</a:t>
            </a:r>
            <a:r>
              <a:rPr lang="" altLang="en-US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ı </a:t>
            </a:r>
            <a:r>
              <a:rPr lang="en-US" altLang="tr-TR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inan</a:t>
            </a:r>
            <a:r>
              <a:rPr lang="" altLang="en-US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ı</a:t>
            </a:r>
            <a:r>
              <a:rPr lang="en-US" altLang="tr-TR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lmaz derecede h</a:t>
            </a:r>
            <a:r>
              <a:rPr lang="" altLang="en-US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ı</a:t>
            </a:r>
            <a:r>
              <a:rPr lang="en-US" altLang="tr-TR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zl</a:t>
            </a:r>
            <a:r>
              <a:rPr lang="" altLang="en-US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ı ç</a:t>
            </a:r>
            <a:r>
              <a:rPr lang="en-US" altLang="tr-TR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al</a:t>
            </a:r>
            <a:r>
              <a:rPr lang="" altLang="en-US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ışı</a:t>
            </a:r>
            <a:r>
              <a:rPr lang="en-US" altLang="tr-TR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r.</a:t>
            </a:r>
            <a:endParaRPr lang="en-US" altLang="tr-TR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</a:endParaRPr>
          </a:p>
          <a:p>
            <a:endParaRPr lang="en-US" altLang="tr-TR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</a:endParaRPr>
          </a:p>
          <a:p>
            <a:endParaRPr lang="en-US" altLang="tr-TR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tr-TR" altLang="en-US">
                <a:sym typeface="+mn-ea"/>
              </a:rPr>
              <a:t>Veri Tabanlarında Kullanımı</a:t>
            </a:r>
            <a:br>
              <a:rPr lang="tr-TR" altLang="en-US">
                <a:sym typeface="+mn-ea"/>
              </a:rPr>
            </a:br>
            <a:r>
              <a:rPr lang="tr-TR" altLang="en-US">
                <a:sym typeface="+mn-ea"/>
              </a:rPr>
              <a:t>B+ Ağaçları:</a:t>
            </a:r>
            <a:endParaRPr lang="tr-TR" altLang="en-US"/>
          </a:p>
        </p:txBody>
      </p:sp>
      <p:pic>
        <p:nvPicPr>
          <p:cNvPr id="4" name="İçerik Yer Tutucu 3" descr="b+2"/>
          <p:cNvPicPr>
            <a:picLocks noChangeAspect="1"/>
          </p:cNvPicPr>
          <p:nvPr>
            <p:ph idx="1"/>
          </p:nvPr>
        </p:nvPicPr>
        <p:blipFill>
          <a:blip r:embed="rId1"/>
          <a:srcRect r="4980"/>
          <a:stretch>
            <a:fillRect/>
          </a:stretch>
        </p:blipFill>
        <p:spPr>
          <a:xfrm>
            <a:off x="6096000" y="1781810"/>
            <a:ext cx="5257800" cy="4351655"/>
          </a:xfrm>
          <a:prstGeom prst="rect">
            <a:avLst/>
          </a:prstGeom>
        </p:spPr>
      </p:pic>
      <p:sp>
        <p:nvSpPr>
          <p:cNvPr id="5" name="Metin Kutusu 4"/>
          <p:cNvSpPr txBox="1"/>
          <p:nvPr/>
        </p:nvSpPr>
        <p:spPr>
          <a:xfrm>
            <a:off x="299085" y="1510665"/>
            <a:ext cx="5643880" cy="53473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tr-TR" sz="2000">
                <a:solidFill>
                  <a:schemeClr val="accent6"/>
                </a:solidFill>
              </a:rPr>
              <a:t>3. Disk I/O Optimizasyonu</a:t>
            </a:r>
            <a:r>
              <a:rPr lang="tr-TR" altLang="en-US" sz="2000">
                <a:solidFill>
                  <a:schemeClr val="accent6"/>
                </a:solidFill>
              </a:rPr>
              <a:t>:</a:t>
            </a:r>
            <a:endParaRPr lang="tr-TR" altLang="en-US" sz="2000">
              <a:solidFill>
                <a:schemeClr val="accent6"/>
              </a:solidFill>
            </a:endParaRPr>
          </a:p>
          <a:p>
            <a:r>
              <a:rPr lang="en-US" altLang="tr-TR">
                <a:solidFill>
                  <a:schemeClr val="tx1"/>
                </a:solidFill>
              </a:rPr>
              <a:t>Veri tabanlar</a:t>
            </a:r>
            <a:r>
              <a:rPr lang="" altLang="en-US">
                <a:solidFill>
                  <a:schemeClr val="tx1"/>
                </a:solidFill>
              </a:rPr>
              <a:t>ı </a:t>
            </a:r>
            <a:r>
              <a:rPr lang="en-US" altLang="tr-TR">
                <a:solidFill>
                  <a:schemeClr val="tx1"/>
                </a:solidFill>
              </a:rPr>
              <a:t>veriyi sabit disklerden sayfa (page/block) bloklar</a:t>
            </a:r>
            <a:r>
              <a:rPr lang="" altLang="en-US">
                <a:solidFill>
                  <a:schemeClr val="tx1"/>
                </a:solidFill>
              </a:rPr>
              <a:t>ı </a:t>
            </a:r>
            <a:r>
              <a:rPr lang="en-US" altLang="tr-TR">
                <a:solidFill>
                  <a:schemeClr val="tx1"/>
                </a:solidFill>
              </a:rPr>
              <a:t>halinde okur. B+ a</a:t>
            </a:r>
            <a:r>
              <a:rPr lang="" altLang="en-US">
                <a:solidFill>
                  <a:schemeClr val="tx1"/>
                </a:solidFill>
              </a:rPr>
              <a:t>ğ</a:t>
            </a:r>
            <a:r>
              <a:rPr lang="en-US" altLang="tr-TR">
                <a:solidFill>
                  <a:schemeClr val="tx1"/>
                </a:solidFill>
              </a:rPr>
              <a:t>a</a:t>
            </a:r>
            <a:r>
              <a:rPr lang="" altLang="en-US">
                <a:solidFill>
                  <a:schemeClr val="tx1"/>
                </a:solidFill>
              </a:rPr>
              <a:t>ç</a:t>
            </a:r>
            <a:r>
              <a:rPr lang="en-US" altLang="tr-TR">
                <a:solidFill>
                  <a:schemeClr val="tx1"/>
                </a:solidFill>
              </a:rPr>
              <a:t>lar</a:t>
            </a:r>
            <a:r>
              <a:rPr lang="" altLang="en-US">
                <a:solidFill>
                  <a:schemeClr val="tx1"/>
                </a:solidFill>
              </a:rPr>
              <a:t>ı ç</a:t>
            </a:r>
            <a:r>
              <a:rPr lang="en-US" altLang="tr-TR">
                <a:solidFill>
                  <a:schemeClr val="tx1"/>
                </a:solidFill>
              </a:rPr>
              <a:t>ok y</a:t>
            </a:r>
            <a:r>
              <a:rPr lang="en-US" altLang="en-US">
                <a:solidFill>
                  <a:schemeClr val="tx1"/>
                </a:solidFill>
              </a:rPr>
              <a:t>ü</a:t>
            </a:r>
            <a:r>
              <a:rPr lang="en-US" altLang="tr-TR">
                <a:solidFill>
                  <a:schemeClr val="tx1"/>
                </a:solidFill>
              </a:rPr>
              <a:t>ksek bir dallanma katsay</a:t>
            </a:r>
            <a:r>
              <a:rPr lang="" altLang="en-US">
                <a:solidFill>
                  <a:schemeClr val="tx1"/>
                </a:solidFill>
              </a:rPr>
              <a:t>ı</a:t>
            </a:r>
            <a:r>
              <a:rPr lang="en-US" altLang="tr-TR">
                <a:solidFill>
                  <a:schemeClr val="tx1"/>
                </a:solidFill>
              </a:rPr>
              <a:t>s</a:t>
            </a:r>
            <a:r>
              <a:rPr lang="" altLang="en-US">
                <a:solidFill>
                  <a:schemeClr val="tx1"/>
                </a:solidFill>
              </a:rPr>
              <a:t>ı</a:t>
            </a:r>
            <a:r>
              <a:rPr lang="en-US" altLang="tr-TR">
                <a:solidFill>
                  <a:schemeClr val="tx1"/>
                </a:solidFill>
              </a:rPr>
              <a:t>na (fanout) sahiptir; bu da a</a:t>
            </a:r>
            <a:r>
              <a:rPr lang="" altLang="en-US">
                <a:solidFill>
                  <a:schemeClr val="tx1"/>
                </a:solidFill>
              </a:rPr>
              <a:t>ğ</a:t>
            </a:r>
            <a:r>
              <a:rPr lang="en-US" altLang="tr-TR">
                <a:solidFill>
                  <a:schemeClr val="tx1"/>
                </a:solidFill>
              </a:rPr>
              <a:t>ac</a:t>
            </a:r>
            <a:r>
              <a:rPr lang="" altLang="en-US">
                <a:solidFill>
                  <a:schemeClr val="tx1"/>
                </a:solidFill>
              </a:rPr>
              <a:t>ı</a:t>
            </a:r>
            <a:r>
              <a:rPr lang="en-US" altLang="tr-TR">
                <a:solidFill>
                  <a:schemeClr val="tx1"/>
                </a:solidFill>
              </a:rPr>
              <a:t>n boyunu (y</a:t>
            </a:r>
            <a:r>
              <a:rPr lang="en-US" altLang="en-US">
                <a:solidFill>
                  <a:schemeClr val="tx1"/>
                </a:solidFill>
              </a:rPr>
              <a:t>ü</a:t>
            </a:r>
            <a:r>
              <a:rPr lang="en-US" altLang="tr-TR">
                <a:solidFill>
                  <a:schemeClr val="tx1"/>
                </a:solidFill>
              </a:rPr>
              <a:t>ksekli</a:t>
            </a:r>
            <a:r>
              <a:rPr lang="" altLang="en-US">
                <a:solidFill>
                  <a:schemeClr val="tx1"/>
                </a:solidFill>
              </a:rPr>
              <a:t>ğ</a:t>
            </a:r>
            <a:r>
              <a:rPr lang="en-US" altLang="tr-TR">
                <a:solidFill>
                  <a:schemeClr val="tx1"/>
                </a:solidFill>
              </a:rPr>
              <a:t>ini) k</a:t>
            </a:r>
            <a:r>
              <a:rPr lang="" altLang="en-US">
                <a:solidFill>
                  <a:schemeClr val="tx1"/>
                </a:solidFill>
              </a:rPr>
              <a:t>ı</a:t>
            </a:r>
            <a:r>
              <a:rPr lang="en-US" altLang="tr-TR">
                <a:solidFill>
                  <a:schemeClr val="tx1"/>
                </a:solidFill>
              </a:rPr>
              <a:t>sa tutar.</a:t>
            </a:r>
            <a:endParaRPr lang="en-US" altLang="tr-TR">
              <a:solidFill>
                <a:schemeClr val="tx1"/>
              </a:solidFill>
            </a:endParaRPr>
          </a:p>
          <a:p>
            <a:r>
              <a:rPr lang="en-US" altLang="tr-TR">
                <a:solidFill>
                  <a:schemeClr val="tx1"/>
                </a:solidFill>
              </a:rPr>
              <a:t>Bu sayede aranan bir veriye ula</a:t>
            </a:r>
            <a:r>
              <a:rPr lang="" altLang="en-US">
                <a:solidFill>
                  <a:schemeClr val="tx1"/>
                </a:solidFill>
              </a:rPr>
              <a:t>ş</a:t>
            </a:r>
            <a:r>
              <a:rPr lang="en-US" altLang="tr-TR">
                <a:solidFill>
                  <a:schemeClr val="tx1"/>
                </a:solidFill>
              </a:rPr>
              <a:t>mak i</a:t>
            </a:r>
            <a:r>
              <a:rPr lang="" altLang="en-US">
                <a:solidFill>
                  <a:schemeClr val="tx1"/>
                </a:solidFill>
              </a:rPr>
              <a:t>ç</a:t>
            </a:r>
            <a:r>
              <a:rPr lang="en-US" altLang="tr-TR">
                <a:solidFill>
                  <a:schemeClr val="tx1"/>
                </a:solidFill>
              </a:rPr>
              <a:t>in gereken disk okuma (I/O) i</a:t>
            </a:r>
            <a:r>
              <a:rPr lang="" altLang="en-US">
                <a:solidFill>
                  <a:schemeClr val="tx1"/>
                </a:solidFill>
              </a:rPr>
              <a:t>ş</a:t>
            </a:r>
            <a:r>
              <a:rPr lang="en-US" altLang="tr-TR">
                <a:solidFill>
                  <a:schemeClr val="tx1"/>
                </a:solidFill>
              </a:rPr>
              <a:t>lemi minimize edilir.</a:t>
            </a:r>
            <a:endParaRPr lang="en-US" altLang="tr-TR">
              <a:solidFill>
                <a:schemeClr val="tx1"/>
              </a:solidFill>
            </a:endParaRPr>
          </a:p>
          <a:p>
            <a:endParaRPr lang="en-US" altLang="tr-TR" sz="2000">
              <a:solidFill>
                <a:schemeClr val="accent6"/>
              </a:solidFill>
            </a:endParaRPr>
          </a:p>
          <a:p>
            <a:r>
              <a:rPr lang="" altLang="en-US" sz="2000">
                <a:solidFill>
                  <a:schemeClr val="accent6"/>
                </a:solidFill>
              </a:rPr>
              <a:t>4. İş</a:t>
            </a:r>
            <a:r>
              <a:rPr lang="en-US" altLang="tr-TR" sz="2000">
                <a:solidFill>
                  <a:schemeClr val="accent6"/>
                </a:solidFill>
              </a:rPr>
              <a:t>lem (Transaction) ve G</a:t>
            </a:r>
            <a:r>
              <a:rPr lang="en-US" altLang="en-US" sz="2000">
                <a:solidFill>
                  <a:schemeClr val="accent6"/>
                </a:solidFill>
              </a:rPr>
              <a:t>ü</a:t>
            </a:r>
            <a:r>
              <a:rPr lang="en-US" altLang="tr-TR" sz="2000">
                <a:solidFill>
                  <a:schemeClr val="accent6"/>
                </a:solidFill>
              </a:rPr>
              <a:t>nl</a:t>
            </a:r>
            <a:r>
              <a:rPr lang="en-US" altLang="en-US" sz="2000">
                <a:solidFill>
                  <a:schemeClr val="accent6"/>
                </a:solidFill>
              </a:rPr>
              <a:t>ü</a:t>
            </a:r>
            <a:r>
              <a:rPr lang="en-US" altLang="tr-TR" sz="2000">
                <a:solidFill>
                  <a:schemeClr val="accent6"/>
                </a:solidFill>
              </a:rPr>
              <a:t>k (Log) Y</a:t>
            </a:r>
            <a:r>
              <a:rPr lang="en-US" altLang="en-US" sz="2000">
                <a:solidFill>
                  <a:schemeClr val="accent6"/>
                </a:solidFill>
              </a:rPr>
              <a:t>ö</a:t>
            </a:r>
            <a:r>
              <a:rPr lang="en-US" altLang="tr-TR" sz="2000">
                <a:solidFill>
                  <a:schemeClr val="accent6"/>
                </a:solidFill>
              </a:rPr>
              <a:t>netimi</a:t>
            </a:r>
            <a:r>
              <a:rPr lang="tr-TR" altLang="en-US" sz="2000">
                <a:solidFill>
                  <a:schemeClr val="accent6"/>
                </a:solidFill>
              </a:rPr>
              <a:t>:</a:t>
            </a:r>
            <a:endParaRPr lang="en-US" altLang="tr-TR" sz="2000">
              <a:solidFill>
                <a:schemeClr val="accent6"/>
              </a:solidFill>
            </a:endParaRPr>
          </a:p>
          <a:p>
            <a:r>
              <a:rPr lang="en-US" altLang="tr-TR">
                <a:solidFill>
                  <a:schemeClr val="tx1"/>
                </a:solidFill>
              </a:rPr>
              <a:t>Finansal veri tabanlar</a:t>
            </a:r>
            <a:r>
              <a:rPr lang="" altLang="en-US">
                <a:solidFill>
                  <a:schemeClr val="tx1"/>
                </a:solidFill>
              </a:rPr>
              <a:t>ı </a:t>
            </a:r>
            <a:r>
              <a:rPr lang="en-US" altLang="tr-TR">
                <a:solidFill>
                  <a:schemeClr val="tx1"/>
                </a:solidFill>
              </a:rPr>
              <a:t>ve bankac</a:t>
            </a:r>
            <a:r>
              <a:rPr lang="" altLang="en-US">
                <a:solidFill>
                  <a:schemeClr val="tx1"/>
                </a:solidFill>
              </a:rPr>
              <a:t>ı</a:t>
            </a:r>
            <a:r>
              <a:rPr lang="en-US" altLang="tr-TR">
                <a:solidFill>
                  <a:schemeClr val="tx1"/>
                </a:solidFill>
              </a:rPr>
              <a:t>l</a:t>
            </a:r>
            <a:r>
              <a:rPr lang="" altLang="en-US">
                <a:solidFill>
                  <a:schemeClr val="tx1"/>
                </a:solidFill>
              </a:rPr>
              <a:t>ı</a:t>
            </a:r>
            <a:r>
              <a:rPr lang="en-US" altLang="tr-TR">
                <a:solidFill>
                  <a:schemeClr val="tx1"/>
                </a:solidFill>
              </a:rPr>
              <a:t>k sistemleri, ard</a:t>
            </a:r>
            <a:r>
              <a:rPr lang="" altLang="en-US">
                <a:solidFill>
                  <a:schemeClr val="tx1"/>
                </a:solidFill>
              </a:rPr>
              <a:t>ışı</a:t>
            </a:r>
            <a:r>
              <a:rPr lang="en-US" altLang="tr-TR">
                <a:solidFill>
                  <a:schemeClr val="tx1"/>
                </a:solidFill>
              </a:rPr>
              <a:t>k ekleme/silme operasyonlar</a:t>
            </a:r>
            <a:r>
              <a:rPr lang="" altLang="en-US">
                <a:solidFill>
                  <a:schemeClr val="tx1"/>
                </a:solidFill>
              </a:rPr>
              <a:t>ı</a:t>
            </a:r>
            <a:r>
              <a:rPr lang="en-US" altLang="tr-TR">
                <a:solidFill>
                  <a:schemeClr val="tx1"/>
                </a:solidFill>
              </a:rPr>
              <a:t>n</a:t>
            </a:r>
            <a:r>
              <a:rPr lang="" altLang="en-US">
                <a:solidFill>
                  <a:schemeClr val="tx1"/>
                </a:solidFill>
              </a:rPr>
              <a:t>ı </a:t>
            </a:r>
            <a:r>
              <a:rPr lang="en-US" altLang="tr-TR">
                <a:solidFill>
                  <a:schemeClr val="tx1"/>
                </a:solidFill>
              </a:rPr>
              <a:t>ve i</a:t>
            </a:r>
            <a:r>
              <a:rPr lang="" altLang="en-US">
                <a:solidFill>
                  <a:schemeClr val="tx1"/>
                </a:solidFill>
              </a:rPr>
              <a:t>ş</a:t>
            </a:r>
            <a:r>
              <a:rPr lang="en-US" altLang="tr-TR">
                <a:solidFill>
                  <a:schemeClr val="tx1"/>
                </a:solidFill>
              </a:rPr>
              <a:t>lem g</a:t>
            </a:r>
            <a:r>
              <a:rPr lang="en-US" altLang="en-US">
                <a:solidFill>
                  <a:schemeClr val="tx1"/>
                </a:solidFill>
              </a:rPr>
              <a:t>ü</a:t>
            </a:r>
            <a:r>
              <a:rPr lang="en-US" altLang="tr-TR">
                <a:solidFill>
                  <a:schemeClr val="tx1"/>
                </a:solidFill>
              </a:rPr>
              <a:t>nl</a:t>
            </a:r>
            <a:r>
              <a:rPr lang="en-US" altLang="en-US">
                <a:solidFill>
                  <a:schemeClr val="tx1"/>
                </a:solidFill>
              </a:rPr>
              <a:t>ü</a:t>
            </a:r>
            <a:r>
              <a:rPr lang="en-US" altLang="tr-TR">
                <a:solidFill>
                  <a:schemeClr val="tx1"/>
                </a:solidFill>
              </a:rPr>
              <a:t>klerini (transaction logs) y</a:t>
            </a:r>
            <a:r>
              <a:rPr lang="en-US" altLang="en-US">
                <a:solidFill>
                  <a:schemeClr val="tx1"/>
                </a:solidFill>
              </a:rPr>
              <a:t>ö</a:t>
            </a:r>
            <a:r>
              <a:rPr lang="en-US" altLang="tr-TR">
                <a:solidFill>
                  <a:schemeClr val="tx1"/>
                </a:solidFill>
              </a:rPr>
              <a:t>netmek i</a:t>
            </a:r>
            <a:r>
              <a:rPr lang="" altLang="en-US">
                <a:solidFill>
                  <a:schemeClr val="tx1"/>
                </a:solidFill>
              </a:rPr>
              <a:t>ç</a:t>
            </a:r>
            <a:r>
              <a:rPr lang="en-US" altLang="tr-TR">
                <a:solidFill>
                  <a:schemeClr val="tx1"/>
                </a:solidFill>
              </a:rPr>
              <a:t>in B+ a</a:t>
            </a:r>
            <a:r>
              <a:rPr lang="" altLang="en-US">
                <a:solidFill>
                  <a:schemeClr val="tx1"/>
                </a:solidFill>
              </a:rPr>
              <a:t>ğ</a:t>
            </a:r>
            <a:r>
              <a:rPr lang="en-US" altLang="tr-TR">
                <a:solidFill>
                  <a:schemeClr val="tx1"/>
                </a:solidFill>
              </a:rPr>
              <a:t>a</a:t>
            </a:r>
            <a:r>
              <a:rPr lang="" altLang="en-US">
                <a:solidFill>
                  <a:schemeClr val="tx1"/>
                </a:solidFill>
              </a:rPr>
              <a:t>ç</a:t>
            </a:r>
            <a:r>
              <a:rPr lang="en-US" altLang="tr-TR">
                <a:solidFill>
                  <a:schemeClr val="tx1"/>
                </a:solidFill>
              </a:rPr>
              <a:t>lar</a:t>
            </a:r>
            <a:r>
              <a:rPr lang="" altLang="en-US">
                <a:solidFill>
                  <a:schemeClr val="tx1"/>
                </a:solidFill>
              </a:rPr>
              <a:t>ı</a:t>
            </a:r>
            <a:r>
              <a:rPr lang="en-US" altLang="tr-TR">
                <a:solidFill>
                  <a:schemeClr val="tx1"/>
                </a:solidFill>
              </a:rPr>
              <a:t>ndan faydalan</a:t>
            </a:r>
            <a:r>
              <a:rPr lang="" altLang="en-US">
                <a:solidFill>
                  <a:schemeClr val="tx1"/>
                </a:solidFill>
              </a:rPr>
              <a:t>ı</a:t>
            </a:r>
            <a:r>
              <a:rPr lang="en-US" altLang="tr-TR">
                <a:solidFill>
                  <a:schemeClr val="tx1"/>
                </a:solidFill>
              </a:rPr>
              <a:t>r.</a:t>
            </a:r>
            <a:endParaRPr lang="en-US" altLang="tr-TR">
              <a:solidFill>
                <a:schemeClr val="tx1"/>
              </a:solidFill>
            </a:endParaRPr>
          </a:p>
          <a:p>
            <a:endParaRPr lang="en-US" altLang="tr-TR">
              <a:solidFill>
                <a:schemeClr val="tx1"/>
              </a:solidFill>
            </a:endParaRPr>
          </a:p>
          <a:p>
            <a:r>
              <a:rPr lang="en-US" altLang="tr-TR" sz="2000">
                <a:solidFill>
                  <a:schemeClr val="accent6"/>
                </a:solidFill>
              </a:rPr>
              <a:t>5. Veri Ambar</a:t>
            </a:r>
            <a:r>
              <a:rPr lang="" altLang="en-US" sz="2000">
                <a:solidFill>
                  <a:schemeClr val="accent6"/>
                </a:solidFill>
              </a:rPr>
              <a:t>ı (</a:t>
            </a:r>
            <a:r>
              <a:rPr lang="en-US" altLang="tr-TR" sz="2000">
                <a:solidFill>
                  <a:schemeClr val="accent6"/>
                </a:solidFill>
              </a:rPr>
              <a:t>Data Warehousing)</a:t>
            </a:r>
            <a:r>
              <a:rPr lang="tr-TR" altLang="en-US" sz="2000">
                <a:solidFill>
                  <a:schemeClr val="accent6"/>
                </a:solidFill>
              </a:rPr>
              <a:t>:</a:t>
            </a:r>
            <a:endParaRPr lang="tr-TR" altLang="en-US" sz="2000">
              <a:solidFill>
                <a:schemeClr val="accent6"/>
              </a:solidFill>
            </a:endParaRPr>
          </a:p>
          <a:p>
            <a:r>
              <a:rPr lang="" altLang="en-US">
                <a:solidFill>
                  <a:schemeClr val="tx1"/>
                </a:solidFill>
              </a:rPr>
              <a:t>Ç</a:t>
            </a:r>
            <a:r>
              <a:rPr lang="en-US" altLang="tr-TR">
                <a:solidFill>
                  <a:schemeClr val="tx1"/>
                </a:solidFill>
              </a:rPr>
              <a:t>ok b</a:t>
            </a:r>
            <a:r>
              <a:rPr lang="en-US" altLang="en-US">
                <a:solidFill>
                  <a:schemeClr val="tx1"/>
                </a:solidFill>
              </a:rPr>
              <a:t>ü</a:t>
            </a:r>
            <a:r>
              <a:rPr lang="en-US" altLang="tr-TR">
                <a:solidFill>
                  <a:schemeClr val="tx1"/>
                </a:solidFill>
              </a:rPr>
              <a:t>y</a:t>
            </a:r>
            <a:r>
              <a:rPr lang="en-US" altLang="en-US">
                <a:solidFill>
                  <a:schemeClr val="tx1"/>
                </a:solidFill>
              </a:rPr>
              <a:t>ü</a:t>
            </a:r>
            <a:r>
              <a:rPr lang="en-US" altLang="tr-TR">
                <a:solidFill>
                  <a:schemeClr val="tx1"/>
                </a:solidFill>
              </a:rPr>
              <a:t>k veri k</a:t>
            </a:r>
            <a:r>
              <a:rPr lang="en-US" altLang="en-US">
                <a:solidFill>
                  <a:schemeClr val="tx1"/>
                </a:solidFill>
              </a:rPr>
              <a:t>ü</a:t>
            </a:r>
            <a:r>
              <a:rPr lang="en-US" altLang="tr-TR">
                <a:solidFill>
                  <a:schemeClr val="tx1"/>
                </a:solidFill>
              </a:rPr>
              <a:t>melerinin bulundu</a:t>
            </a:r>
            <a:r>
              <a:rPr lang="" altLang="en-US">
                <a:solidFill>
                  <a:schemeClr val="tx1"/>
                </a:solidFill>
              </a:rPr>
              <a:t>ğ</a:t>
            </a:r>
            <a:r>
              <a:rPr lang="en-US" altLang="tr-TR">
                <a:solidFill>
                  <a:schemeClr val="tx1"/>
                </a:solidFill>
              </a:rPr>
              <a:t>u veri ambarlar</a:t>
            </a:r>
            <a:r>
              <a:rPr lang="" altLang="en-US">
                <a:solidFill>
                  <a:schemeClr val="tx1"/>
                </a:solidFill>
              </a:rPr>
              <a:t>ı</a:t>
            </a:r>
            <a:r>
              <a:rPr lang="en-US" altLang="tr-TR">
                <a:solidFill>
                  <a:schemeClr val="tx1"/>
                </a:solidFill>
              </a:rPr>
              <a:t>nda, verimli toplama (aggregation), filtreleme ve s</a:t>
            </a:r>
            <a:r>
              <a:rPr lang="" altLang="en-US">
                <a:solidFill>
                  <a:schemeClr val="tx1"/>
                </a:solidFill>
              </a:rPr>
              <a:t>ı</a:t>
            </a:r>
            <a:r>
              <a:rPr lang="en-US" altLang="tr-TR">
                <a:solidFill>
                  <a:schemeClr val="tx1"/>
                </a:solidFill>
              </a:rPr>
              <a:t>ralama i</a:t>
            </a:r>
            <a:r>
              <a:rPr lang="" altLang="en-US">
                <a:solidFill>
                  <a:schemeClr val="tx1"/>
                </a:solidFill>
              </a:rPr>
              <a:t>ş</a:t>
            </a:r>
            <a:r>
              <a:rPr lang="en-US" altLang="tr-TR">
                <a:solidFill>
                  <a:schemeClr val="tx1"/>
                </a:solidFill>
              </a:rPr>
              <a:t>lemleri i</a:t>
            </a:r>
            <a:r>
              <a:rPr lang="" altLang="en-US">
                <a:solidFill>
                  <a:schemeClr val="tx1"/>
                </a:solidFill>
              </a:rPr>
              <a:t>ç</a:t>
            </a:r>
            <a:r>
              <a:rPr lang="en-US" altLang="tr-TR">
                <a:solidFill>
                  <a:schemeClr val="tx1"/>
                </a:solidFill>
              </a:rPr>
              <a:t>in B+ a</a:t>
            </a:r>
            <a:r>
              <a:rPr lang="" altLang="en-US">
                <a:solidFill>
                  <a:schemeClr val="tx1"/>
                </a:solidFill>
              </a:rPr>
              <a:t>ğ</a:t>
            </a:r>
            <a:r>
              <a:rPr lang="en-US" altLang="tr-TR">
                <a:solidFill>
                  <a:schemeClr val="tx1"/>
                </a:solidFill>
              </a:rPr>
              <a:t>ac</a:t>
            </a:r>
            <a:r>
              <a:rPr lang="" altLang="en-US">
                <a:solidFill>
                  <a:schemeClr val="tx1"/>
                </a:solidFill>
              </a:rPr>
              <a:t>ı </a:t>
            </a:r>
            <a:r>
              <a:rPr lang="en-US" altLang="tr-TR">
                <a:solidFill>
                  <a:schemeClr val="tx1"/>
                </a:solidFill>
              </a:rPr>
              <a:t>indeksleri kullan</a:t>
            </a:r>
            <a:r>
              <a:rPr lang="" altLang="en-US">
                <a:solidFill>
                  <a:schemeClr val="tx1"/>
                </a:solidFill>
              </a:rPr>
              <a:t>ı</a:t>
            </a:r>
            <a:r>
              <a:rPr lang="en-US" altLang="tr-TR">
                <a:solidFill>
                  <a:schemeClr val="tx1"/>
                </a:solidFill>
              </a:rPr>
              <a:t>l</a:t>
            </a:r>
            <a:r>
              <a:rPr lang="" altLang="en-US">
                <a:solidFill>
                  <a:schemeClr val="tx1"/>
                </a:solidFill>
              </a:rPr>
              <a:t>ı</a:t>
            </a:r>
            <a:r>
              <a:rPr lang="en-US" altLang="tr-TR">
                <a:solidFill>
                  <a:schemeClr val="tx1"/>
                </a:solidFill>
              </a:rPr>
              <a:t>r.</a:t>
            </a:r>
            <a:endParaRPr lang="en-US" altLang="tr-TR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tr-TR"/>
              <a:t>Dosya </a:t>
            </a:r>
            <a:r>
              <a:rPr lang="tr-TR" altLang="en-US"/>
              <a:t>S</a:t>
            </a:r>
            <a:r>
              <a:rPr lang="en-US" altLang="tr-TR"/>
              <a:t>istemlerinde </a:t>
            </a:r>
            <a:r>
              <a:rPr lang="tr-TR" altLang="en-US"/>
              <a:t>K</a:t>
            </a:r>
            <a:r>
              <a:rPr lang="en-US" altLang="tr-TR"/>
              <a:t>ullan</a:t>
            </a:r>
            <a:r>
              <a:rPr lang="" altLang="en-US"/>
              <a:t>ı</a:t>
            </a:r>
            <a:r>
              <a:rPr lang="en-US" altLang="tr-TR"/>
              <a:t>m</a:t>
            </a:r>
            <a:r>
              <a:rPr lang="" altLang="en-US"/>
              <a:t>ı</a:t>
            </a:r>
            <a:br>
              <a:rPr lang="" altLang="en-US"/>
            </a:br>
            <a:r>
              <a:rPr lang="tr-TR"/>
              <a:t>B Ağaçları:</a:t>
            </a:r>
            <a:endParaRPr lang="tr-TR"/>
          </a:p>
        </p:txBody>
      </p:sp>
      <p:sp>
        <p:nvSpPr>
          <p:cNvPr id="3" name="İçerik Yer Tutucu 2"/>
          <p:cNvSpPr>
            <a:spLocks noGrp="1"/>
          </p:cNvSpPr>
          <p:nvPr>
            <p:ph idx="1"/>
          </p:nvPr>
        </p:nvSpPr>
        <p:spPr>
          <a:xfrm>
            <a:off x="838200" y="1527175"/>
            <a:ext cx="10515600" cy="5330825"/>
          </a:xfrm>
        </p:spPr>
        <p:txBody>
          <a:bodyPr>
            <a:normAutofit lnSpcReduction="20000"/>
          </a:bodyPr>
          <a:p>
            <a:r>
              <a:rPr lang="en-US" altLang="tr-TR" sz="2400">
                <a:solidFill>
                  <a:schemeClr val="accent1"/>
                </a:solidFill>
              </a:rPr>
              <a:t>Disk Odakl</a:t>
            </a:r>
            <a:r>
              <a:rPr lang="" altLang="en-US" sz="2400">
                <a:solidFill>
                  <a:schemeClr val="accent1"/>
                </a:solidFill>
              </a:rPr>
              <a:t>ı </a:t>
            </a:r>
            <a:r>
              <a:rPr lang="en-US" altLang="tr-TR" sz="2400">
                <a:solidFill>
                  <a:schemeClr val="accent1"/>
                </a:solidFill>
              </a:rPr>
              <a:t>Veri Eri</a:t>
            </a:r>
            <a:r>
              <a:rPr lang="" altLang="en-US" sz="2400">
                <a:solidFill>
                  <a:schemeClr val="accent1"/>
                </a:solidFill>
              </a:rPr>
              <a:t>ş</a:t>
            </a:r>
            <a:r>
              <a:rPr lang="en-US" altLang="tr-TR" sz="2400">
                <a:solidFill>
                  <a:schemeClr val="accent1"/>
                </a:solidFill>
              </a:rPr>
              <a:t>imi:</a:t>
            </a:r>
            <a:r>
              <a:rPr lang="en-US" altLang="tr-TR" sz="2000"/>
              <a:t> Sabit disklerde (HDD) ve SSD'lerde veri okuma/yazma bloklar (sekt</a:t>
            </a:r>
            <a:r>
              <a:rPr lang="en-US" altLang="en-US" sz="2000"/>
              <a:t>ö</a:t>
            </a:r>
            <a:r>
              <a:rPr lang="en-US" altLang="tr-TR" sz="2000"/>
              <a:t>rler) halinde ger</a:t>
            </a:r>
            <a:r>
              <a:rPr lang="" altLang="en-US" sz="2000"/>
              <a:t>ç</a:t>
            </a:r>
            <a:r>
              <a:rPr lang="en-US" altLang="tr-TR" sz="2000"/>
              <a:t>ekle</a:t>
            </a:r>
            <a:r>
              <a:rPr lang="" altLang="en-US" sz="2000"/>
              <a:t>ş</a:t>
            </a:r>
            <a:r>
              <a:rPr lang="en-US" altLang="tr-TR" sz="2000"/>
              <a:t>ir. B-a</a:t>
            </a:r>
            <a:r>
              <a:rPr lang="" altLang="en-US" sz="2000"/>
              <a:t>ğ</a:t>
            </a:r>
            <a:r>
              <a:rPr lang="en-US" altLang="tr-TR" sz="2000"/>
              <a:t>a</a:t>
            </a:r>
            <a:r>
              <a:rPr lang="" altLang="en-US" sz="2000"/>
              <a:t>ç</a:t>
            </a:r>
            <a:r>
              <a:rPr lang="en-US" altLang="tr-TR" sz="2000"/>
              <a:t>lar</a:t>
            </a:r>
            <a:r>
              <a:rPr lang="" altLang="en-US" sz="2000"/>
              <a:t>ı </a:t>
            </a:r>
            <a:r>
              <a:rPr lang="en-US" altLang="tr-TR" sz="2000"/>
              <a:t>y</a:t>
            </a:r>
            <a:r>
              <a:rPr lang="en-US" altLang="en-US" sz="2000"/>
              <a:t>ü</a:t>
            </a:r>
            <a:r>
              <a:rPr lang="en-US" altLang="tr-TR" sz="2000"/>
              <a:t>ksek dallanma fakt</a:t>
            </a:r>
            <a:r>
              <a:rPr lang="en-US" altLang="en-US" sz="2000"/>
              <a:t>ö</a:t>
            </a:r>
            <a:r>
              <a:rPr lang="en-US" altLang="tr-TR" sz="2000"/>
              <a:t>r</a:t>
            </a:r>
            <a:r>
              <a:rPr lang="en-US" altLang="en-US" sz="2000"/>
              <a:t>ü</a:t>
            </a:r>
            <a:r>
              <a:rPr lang="en-US" altLang="tr-TR" sz="2000"/>
              <a:t>ne sahip olduklar</a:t>
            </a:r>
            <a:r>
              <a:rPr lang="" altLang="en-US" sz="2000"/>
              <a:t>ı </a:t>
            </a:r>
            <a:r>
              <a:rPr lang="en-US" altLang="tr-TR" sz="2000"/>
              <a:t>i</a:t>
            </a:r>
            <a:r>
              <a:rPr lang="" altLang="en-US" sz="2000"/>
              <a:t>ç</a:t>
            </a:r>
            <a:r>
              <a:rPr lang="en-US" altLang="tr-TR" sz="2000"/>
              <a:t>in veriyi disk bloklar</a:t>
            </a:r>
            <a:r>
              <a:rPr lang="" altLang="en-US" sz="2000"/>
              <a:t>ı</a:t>
            </a:r>
            <a:r>
              <a:rPr lang="en-US" altLang="tr-TR" sz="2000"/>
              <a:t>na tam oturacak </a:t>
            </a:r>
            <a:r>
              <a:rPr lang="" altLang="en-US" sz="2000"/>
              <a:t>ş</a:t>
            </a:r>
            <a:r>
              <a:rPr lang="en-US" altLang="tr-TR" sz="2000"/>
              <a:t>ekilde d</a:t>
            </a:r>
            <a:r>
              <a:rPr lang="en-US" altLang="en-US" sz="2000"/>
              <a:t>ü</a:t>
            </a:r>
            <a:r>
              <a:rPr lang="en-US" altLang="tr-TR" sz="2000"/>
              <a:t>zenlerler. Bu, disk eri</a:t>
            </a:r>
            <a:r>
              <a:rPr lang="" altLang="en-US" sz="2000"/>
              <a:t>ş</a:t>
            </a:r>
            <a:r>
              <a:rPr lang="en-US" altLang="tr-TR" sz="2000"/>
              <a:t>im say</a:t>
            </a:r>
            <a:r>
              <a:rPr lang="" altLang="en-US" sz="2000"/>
              <a:t>ı</a:t>
            </a:r>
            <a:r>
              <a:rPr lang="en-US" altLang="tr-TR" sz="2000"/>
              <a:t>s</a:t>
            </a:r>
            <a:r>
              <a:rPr lang="" altLang="en-US" sz="2000"/>
              <a:t>ı</a:t>
            </a:r>
            <a:r>
              <a:rPr lang="en-US" altLang="tr-TR" sz="2000"/>
              <a:t>n</a:t>
            </a:r>
            <a:r>
              <a:rPr lang="" altLang="en-US" sz="2000"/>
              <a:t>ı (</a:t>
            </a:r>
            <a:r>
              <a:rPr lang="en-US" altLang="tr-TR" sz="2000"/>
              <a:t>I/O) en aza indirir.</a:t>
            </a:r>
            <a:endParaRPr lang="en-US" altLang="tr-TR" sz="2000"/>
          </a:p>
          <a:p>
            <a:r>
              <a:rPr lang="en-US" altLang="tr-TR" sz="2400">
                <a:solidFill>
                  <a:schemeClr val="accent1"/>
                </a:solidFill>
              </a:rPr>
              <a:t>H</a:t>
            </a:r>
            <a:r>
              <a:rPr lang="" altLang="en-US" sz="2400">
                <a:solidFill>
                  <a:schemeClr val="accent1"/>
                </a:solidFill>
              </a:rPr>
              <a:t>ı</a:t>
            </a:r>
            <a:r>
              <a:rPr lang="en-US" altLang="tr-TR" sz="2400">
                <a:solidFill>
                  <a:schemeClr val="accent1"/>
                </a:solidFill>
              </a:rPr>
              <a:t>zl</a:t>
            </a:r>
            <a:r>
              <a:rPr lang="" altLang="en-US" sz="2400">
                <a:solidFill>
                  <a:schemeClr val="accent1"/>
                </a:solidFill>
              </a:rPr>
              <a:t>ı </a:t>
            </a:r>
            <a:r>
              <a:rPr lang="en-US" altLang="tr-TR" sz="2400">
                <a:solidFill>
                  <a:schemeClr val="accent1"/>
                </a:solidFill>
              </a:rPr>
              <a:t>Arama, Ekleme ve Silme: </a:t>
            </a:r>
            <a:r>
              <a:rPr lang="en-US" altLang="tr-TR" sz="2000"/>
              <a:t>Dosya say</a:t>
            </a:r>
            <a:r>
              <a:rPr lang="" altLang="en-US" sz="2000"/>
              <a:t>ı</a:t>
            </a:r>
            <a:r>
              <a:rPr lang="en-US" altLang="tr-TR" sz="2000"/>
              <a:t>s</a:t>
            </a:r>
            <a:r>
              <a:rPr lang="" altLang="en-US" sz="2000"/>
              <a:t>ı </a:t>
            </a:r>
            <a:r>
              <a:rPr lang="en-US" altLang="tr-TR" sz="2000"/>
              <a:t>milyonlar</a:t>
            </a:r>
            <a:r>
              <a:rPr lang="" altLang="en-US" sz="2000"/>
              <a:t>ı </a:t>
            </a:r>
            <a:r>
              <a:rPr lang="en-US" altLang="tr-TR" sz="2000"/>
              <a:t>bulsa bile, B-a</a:t>
            </a:r>
            <a:r>
              <a:rPr lang="" altLang="en-US" sz="2000"/>
              <a:t>ğ</a:t>
            </a:r>
            <a:r>
              <a:rPr lang="en-US" altLang="tr-TR" sz="2000"/>
              <a:t>a</a:t>
            </a:r>
            <a:r>
              <a:rPr lang="" altLang="en-US" sz="2000"/>
              <a:t>ç</a:t>
            </a:r>
            <a:r>
              <a:rPr lang="en-US" altLang="tr-TR" sz="2000"/>
              <a:t>lar</a:t>
            </a:r>
            <a:r>
              <a:rPr lang="" altLang="en-US" sz="2000"/>
              <a:t>ı </a:t>
            </a:r>
            <a:r>
              <a:rPr lang="en-US" altLang="tr-TR" sz="2000"/>
              <a:t>sayesinde belirli bir dosyay</a:t>
            </a:r>
            <a:r>
              <a:rPr lang="" altLang="en-US" sz="2000"/>
              <a:t>ı </a:t>
            </a:r>
            <a:r>
              <a:rPr lang="en-US" altLang="tr-TR" sz="2000"/>
              <a:t>veya dizini bulmak \(O(\log n)\) karma</a:t>
            </a:r>
            <a:r>
              <a:rPr lang="" altLang="en-US" sz="2000"/>
              <a:t>şı</a:t>
            </a:r>
            <a:r>
              <a:rPr lang="en-US" altLang="tr-TR" sz="2000"/>
              <a:t>kl</a:t>
            </a:r>
            <a:r>
              <a:rPr lang="" altLang="en-US" sz="2000"/>
              <a:t>ığı</a:t>
            </a:r>
            <a:r>
              <a:rPr lang="en-US" altLang="tr-TR" sz="2000"/>
              <a:t>nda, son derece h</a:t>
            </a:r>
            <a:r>
              <a:rPr lang="" altLang="en-US" sz="2000"/>
              <a:t>ı</a:t>
            </a:r>
            <a:r>
              <a:rPr lang="en-US" altLang="tr-TR" sz="2000"/>
              <a:t>zl</a:t>
            </a:r>
            <a:r>
              <a:rPr lang="" altLang="en-US" sz="2000"/>
              <a:t>ı </a:t>
            </a:r>
            <a:r>
              <a:rPr lang="en-US" altLang="tr-TR" sz="2000"/>
              <a:t>bir </a:t>
            </a:r>
            <a:r>
              <a:rPr lang="" altLang="en-US" sz="2000"/>
              <a:t>ş</a:t>
            </a:r>
            <a:r>
              <a:rPr lang="en-US" altLang="tr-TR" sz="2000"/>
              <a:t>ekilde ger</a:t>
            </a:r>
            <a:r>
              <a:rPr lang="" altLang="en-US" sz="2000"/>
              <a:t>ç</a:t>
            </a:r>
            <a:r>
              <a:rPr lang="en-US" altLang="tr-TR" sz="2000"/>
              <a:t>ekle</a:t>
            </a:r>
            <a:r>
              <a:rPr lang="" altLang="en-US" sz="2000"/>
              <a:t>ş</a:t>
            </a:r>
            <a:r>
              <a:rPr lang="en-US" altLang="tr-TR" sz="2000"/>
              <a:t>ir.</a:t>
            </a:r>
            <a:endParaRPr lang="en-US" altLang="tr-TR" sz="2000"/>
          </a:p>
          <a:p>
            <a:r>
              <a:rPr lang="en-US" altLang="tr-TR" sz="2400">
                <a:solidFill>
                  <a:schemeClr val="accent1"/>
                </a:solidFill>
              </a:rPr>
              <a:t>Dizin Y</a:t>
            </a:r>
            <a:r>
              <a:rPr lang="en-US" altLang="en-US" sz="2400">
                <a:solidFill>
                  <a:schemeClr val="accent1"/>
                </a:solidFill>
              </a:rPr>
              <a:t>ö</a:t>
            </a:r>
            <a:r>
              <a:rPr lang="en-US" altLang="tr-TR" sz="2400">
                <a:solidFill>
                  <a:schemeClr val="accent1"/>
                </a:solidFill>
              </a:rPr>
              <a:t>netimi (Indexing):</a:t>
            </a:r>
            <a:r>
              <a:rPr lang="en-US" altLang="tr-TR" sz="2000"/>
              <a:t> Bir klas</a:t>
            </a:r>
            <a:r>
              <a:rPr lang="en-US" altLang="en-US" sz="2000"/>
              <a:t>ö</a:t>
            </a:r>
            <a:r>
              <a:rPr lang="en-US" altLang="tr-TR" sz="2000"/>
              <a:t>r</a:t>
            </a:r>
            <a:r>
              <a:rPr lang="en-US" altLang="en-US" sz="2000"/>
              <a:t>ü</a:t>
            </a:r>
            <a:r>
              <a:rPr lang="en-US" altLang="tr-TR" sz="2000"/>
              <a:t>n i</a:t>
            </a:r>
            <a:r>
              <a:rPr lang="" altLang="en-US" sz="2000"/>
              <a:t>ç</a:t>
            </a:r>
            <a:r>
              <a:rPr lang="en-US" altLang="tr-TR" sz="2000"/>
              <a:t>erisindeki binlerce dosyay</a:t>
            </a:r>
            <a:r>
              <a:rPr lang="" altLang="en-US" sz="2000"/>
              <a:t>ı </a:t>
            </a:r>
            <a:r>
              <a:rPr lang="en-US" altLang="tr-TR" sz="2000"/>
              <a:t>do</a:t>
            </a:r>
            <a:r>
              <a:rPr lang="" altLang="en-US" sz="2000"/>
              <a:t>ğ</a:t>
            </a:r>
            <a:r>
              <a:rPr lang="en-US" altLang="tr-TR" sz="2000"/>
              <a:t>rusal olarak aramak yerine B-a</a:t>
            </a:r>
            <a:r>
              <a:rPr lang="" altLang="en-US" sz="2000"/>
              <a:t>ğ</a:t>
            </a:r>
            <a:r>
              <a:rPr lang="en-US" altLang="tr-TR" sz="2000"/>
              <a:t>ac</a:t>
            </a:r>
            <a:r>
              <a:rPr lang="" altLang="en-US" sz="2000"/>
              <a:t>ı </a:t>
            </a:r>
            <a:r>
              <a:rPr lang="en-US" altLang="tr-TR" sz="2000"/>
              <a:t>yap</a:t>
            </a:r>
            <a:r>
              <a:rPr lang="" altLang="en-US" sz="2000"/>
              <a:t>ı</a:t>
            </a:r>
            <a:r>
              <a:rPr lang="en-US" altLang="tr-TR" sz="2000"/>
              <a:t>s</a:t>
            </a:r>
            <a:r>
              <a:rPr lang="" altLang="en-US" sz="2000"/>
              <a:t>ı </a:t>
            </a:r>
            <a:r>
              <a:rPr lang="en-US" altLang="tr-TR" sz="2000"/>
              <a:t>kullan</a:t>
            </a:r>
            <a:r>
              <a:rPr lang="" altLang="en-US" sz="2000"/>
              <a:t>ı</a:t>
            </a:r>
            <a:r>
              <a:rPr lang="en-US" altLang="tr-TR" sz="2000"/>
              <a:t>larak klas</a:t>
            </a:r>
            <a:r>
              <a:rPr lang="en-US" altLang="en-US" sz="2000"/>
              <a:t>ö</a:t>
            </a:r>
            <a:r>
              <a:rPr lang="en-US" altLang="tr-TR" sz="2000"/>
              <a:t>r i</a:t>
            </a:r>
            <a:r>
              <a:rPr lang="" altLang="en-US" sz="2000"/>
              <a:t>ç</a:t>
            </a:r>
            <a:r>
              <a:rPr lang="en-US" altLang="tr-TR" sz="2000"/>
              <a:t>eri</a:t>
            </a:r>
            <a:r>
              <a:rPr lang="" altLang="en-US" sz="2000"/>
              <a:t>ğ</a:t>
            </a:r>
            <a:r>
              <a:rPr lang="en-US" altLang="tr-TR" sz="2000"/>
              <a:t>i hiyerar</a:t>
            </a:r>
            <a:r>
              <a:rPr lang="" altLang="en-US" sz="2000"/>
              <a:t>ş</a:t>
            </a:r>
            <a:r>
              <a:rPr lang="en-US" altLang="tr-TR" sz="2000"/>
              <a:t>ik ve s</a:t>
            </a:r>
            <a:r>
              <a:rPr lang="" altLang="en-US" sz="2000"/>
              <a:t>ı</a:t>
            </a:r>
            <a:r>
              <a:rPr lang="en-US" altLang="tr-TR" sz="2000"/>
              <a:t>ral</a:t>
            </a:r>
            <a:r>
              <a:rPr lang="" altLang="en-US" sz="2000"/>
              <a:t>ı </a:t>
            </a:r>
            <a:r>
              <a:rPr lang="en-US" altLang="tr-TR" sz="2000"/>
              <a:t>indekslenir.</a:t>
            </a:r>
            <a:endParaRPr lang="en-US" altLang="tr-TR" sz="2000"/>
          </a:p>
          <a:p>
            <a:endParaRPr lang="en-US" altLang="tr-TR" sz="2000"/>
          </a:p>
          <a:p>
            <a:r>
              <a:rPr lang="en-US" altLang="tr-TR" sz="2400">
                <a:solidFill>
                  <a:schemeClr val="accent6">
                    <a:lumMod val="75000"/>
                  </a:schemeClr>
                </a:solidFill>
              </a:rPr>
              <a:t>B-A</a:t>
            </a:r>
            <a:r>
              <a:rPr lang="" altLang="en-US" sz="2400">
                <a:solidFill>
                  <a:schemeClr val="accent6">
                    <a:lumMod val="75000"/>
                  </a:schemeClr>
                </a:solidFill>
              </a:rPr>
              <a:t>ğ</a:t>
            </a:r>
            <a:r>
              <a:rPr lang="en-US" altLang="tr-TR" sz="2400">
                <a:solidFill>
                  <a:schemeClr val="accent6">
                    <a:lumMod val="75000"/>
                  </a:schemeClr>
                </a:solidFill>
              </a:rPr>
              <a:t>a</a:t>
            </a:r>
            <a:r>
              <a:rPr lang="" altLang="en-US" sz="2400">
                <a:solidFill>
                  <a:schemeClr val="accent6">
                    <a:lumMod val="75000"/>
                  </a:schemeClr>
                </a:solidFill>
              </a:rPr>
              <a:t>ç</a:t>
            </a:r>
            <a:r>
              <a:rPr lang="en-US" altLang="tr-TR" sz="2400">
                <a:solidFill>
                  <a:schemeClr val="accent6">
                    <a:lumMod val="75000"/>
                  </a:schemeClr>
                </a:solidFill>
              </a:rPr>
              <a:t>lar</a:t>
            </a:r>
            <a:r>
              <a:rPr lang="" altLang="en-US" sz="2400">
                <a:solidFill>
                  <a:schemeClr val="accent6">
                    <a:lumMod val="75000"/>
                  </a:schemeClr>
                </a:solidFill>
              </a:rPr>
              <a:t>ı </a:t>
            </a:r>
            <a:r>
              <a:rPr lang="en-US" altLang="tr-TR" sz="2400">
                <a:solidFill>
                  <a:schemeClr val="accent6">
                    <a:lumMod val="75000"/>
                  </a:schemeClr>
                </a:solidFill>
              </a:rPr>
              <a:t>Kullanan Pop</a:t>
            </a:r>
            <a:r>
              <a:rPr lang="en-US" altLang="en-US" sz="2400">
                <a:solidFill>
                  <a:schemeClr val="accent6">
                    <a:lumMod val="75000"/>
                  </a:schemeClr>
                </a:solidFill>
              </a:rPr>
              <a:t>ü</a:t>
            </a:r>
            <a:r>
              <a:rPr lang="en-US" altLang="tr-TR" sz="2400">
                <a:solidFill>
                  <a:schemeClr val="accent6">
                    <a:lumMod val="75000"/>
                  </a:schemeClr>
                </a:solidFill>
              </a:rPr>
              <a:t>ler Dosya Sistemleri</a:t>
            </a:r>
            <a:r>
              <a:rPr lang="tr-TR" altLang="en-US" sz="2400">
                <a:solidFill>
                  <a:schemeClr val="accent6">
                    <a:lumMod val="75000"/>
                  </a:schemeClr>
                </a:solidFill>
              </a:rPr>
              <a:t>:</a:t>
            </a:r>
            <a:endParaRPr lang="tr-TR" altLang="en-US" sz="240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altLang="tr-TR" sz="1800">
                <a:solidFill>
                  <a:schemeClr val="tx1"/>
                </a:solidFill>
                <a:highlight>
                  <a:srgbClr val="FFFF00"/>
                </a:highlight>
              </a:rPr>
              <a:t>Btrfs (B-tree File System): </a:t>
            </a:r>
            <a:r>
              <a:rPr lang="en-US" altLang="tr-TR" sz="1800">
                <a:solidFill>
                  <a:schemeClr val="tx1"/>
                </a:solidFill>
              </a:rPr>
              <a:t>Ad</a:t>
            </a:r>
            <a:r>
              <a:rPr lang="" altLang="en-US" sz="1800">
                <a:solidFill>
                  <a:schemeClr val="tx1"/>
                </a:solidFill>
              </a:rPr>
              <a:t>ı</a:t>
            </a:r>
            <a:r>
              <a:rPr lang="en-US" altLang="tr-TR" sz="1800">
                <a:solidFill>
                  <a:schemeClr val="tx1"/>
                </a:solidFill>
              </a:rPr>
              <a:t>n</a:t>
            </a:r>
            <a:r>
              <a:rPr lang="" altLang="en-US" sz="1800">
                <a:solidFill>
                  <a:schemeClr val="tx1"/>
                </a:solidFill>
              </a:rPr>
              <a:t>ı </a:t>
            </a:r>
            <a:r>
              <a:rPr lang="en-US" altLang="tr-TR" sz="1800">
                <a:solidFill>
                  <a:schemeClr val="tx1"/>
                </a:solidFill>
              </a:rPr>
              <a:t>do</a:t>
            </a:r>
            <a:r>
              <a:rPr lang="" altLang="en-US" sz="1800">
                <a:solidFill>
                  <a:schemeClr val="tx1"/>
                </a:solidFill>
              </a:rPr>
              <a:t>ğ</a:t>
            </a:r>
            <a:r>
              <a:rPr lang="en-US" altLang="tr-TR" sz="1800">
                <a:solidFill>
                  <a:schemeClr val="tx1"/>
                </a:solidFill>
              </a:rPr>
              <a:t>rudan B-a</a:t>
            </a:r>
            <a:r>
              <a:rPr lang="" altLang="en-US" sz="1800">
                <a:solidFill>
                  <a:schemeClr val="tx1"/>
                </a:solidFill>
              </a:rPr>
              <a:t>ğ</a:t>
            </a:r>
            <a:r>
              <a:rPr lang="en-US" altLang="tr-TR" sz="1800">
                <a:solidFill>
                  <a:schemeClr val="tx1"/>
                </a:solidFill>
              </a:rPr>
              <a:t>a</a:t>
            </a:r>
            <a:r>
              <a:rPr lang="" altLang="en-US" sz="1800">
                <a:solidFill>
                  <a:schemeClr val="tx1"/>
                </a:solidFill>
              </a:rPr>
              <a:t>ç</a:t>
            </a:r>
            <a:r>
              <a:rPr lang="en-US" altLang="tr-TR" sz="1800">
                <a:solidFill>
                  <a:schemeClr val="tx1"/>
                </a:solidFill>
              </a:rPr>
              <a:t>lar</a:t>
            </a:r>
            <a:r>
              <a:rPr lang="" altLang="en-US" sz="1800">
                <a:solidFill>
                  <a:schemeClr val="tx1"/>
                </a:solidFill>
              </a:rPr>
              <a:t>ı</a:t>
            </a:r>
            <a:r>
              <a:rPr lang="en-US" altLang="tr-TR" sz="1800">
                <a:solidFill>
                  <a:schemeClr val="tx1"/>
                </a:solidFill>
              </a:rPr>
              <a:t>ndan al</a:t>
            </a:r>
            <a:r>
              <a:rPr lang="" altLang="en-US" sz="1800">
                <a:solidFill>
                  <a:schemeClr val="tx1"/>
                </a:solidFill>
              </a:rPr>
              <a:t>ı</a:t>
            </a:r>
            <a:r>
              <a:rPr lang="en-US" altLang="tr-TR" sz="1800">
                <a:solidFill>
                  <a:schemeClr val="tx1"/>
                </a:solidFill>
              </a:rPr>
              <a:t>r. Veri ve meta verileri tamamen B-a</a:t>
            </a:r>
            <a:r>
              <a:rPr lang="" altLang="en-US" sz="1800">
                <a:solidFill>
                  <a:schemeClr val="tx1"/>
                </a:solidFill>
              </a:rPr>
              <a:t>ğ</a:t>
            </a:r>
            <a:r>
              <a:rPr lang="en-US" altLang="tr-TR" sz="1800">
                <a:solidFill>
                  <a:schemeClr val="tx1"/>
                </a:solidFill>
              </a:rPr>
              <a:t>a</a:t>
            </a:r>
            <a:r>
              <a:rPr lang="" altLang="en-US" sz="1800">
                <a:solidFill>
                  <a:schemeClr val="tx1"/>
                </a:solidFill>
              </a:rPr>
              <a:t>ç</a:t>
            </a:r>
            <a:r>
              <a:rPr lang="en-US" altLang="tr-TR" sz="1800">
                <a:solidFill>
                  <a:schemeClr val="tx1"/>
                </a:solidFill>
              </a:rPr>
              <a:t>lar</a:t>
            </a:r>
            <a:r>
              <a:rPr lang="" altLang="en-US" sz="1800">
                <a:solidFill>
                  <a:schemeClr val="tx1"/>
                </a:solidFill>
              </a:rPr>
              <a:t>ı </a:t>
            </a:r>
            <a:r>
              <a:rPr lang="en-US" altLang="tr-TR" sz="1800">
                <a:solidFill>
                  <a:schemeClr val="tx1"/>
                </a:solidFill>
              </a:rPr>
              <a:t>ile y</a:t>
            </a:r>
            <a:r>
              <a:rPr lang="en-US" altLang="en-US" sz="1800">
                <a:solidFill>
                  <a:schemeClr val="tx1"/>
                </a:solidFill>
              </a:rPr>
              <a:t>ö</a:t>
            </a:r>
            <a:r>
              <a:rPr lang="en-US" altLang="tr-TR" sz="1800">
                <a:solidFill>
                  <a:schemeClr val="tx1"/>
                </a:solidFill>
              </a:rPr>
              <a:t>netir. Dosya sistemi d</a:t>
            </a:r>
            <a:r>
              <a:rPr lang="en-US" altLang="en-US" sz="1800">
                <a:solidFill>
                  <a:schemeClr val="tx1"/>
                </a:solidFill>
              </a:rPr>
              <a:t>ü</a:t>
            </a:r>
            <a:r>
              <a:rPr lang="en-US" altLang="tr-TR" sz="1800">
                <a:solidFill>
                  <a:schemeClr val="tx1"/>
                </a:solidFill>
              </a:rPr>
              <a:t>zeyinde anl</a:t>
            </a:r>
            <a:r>
              <a:rPr lang="" altLang="en-US" sz="1800">
                <a:solidFill>
                  <a:schemeClr val="tx1"/>
                </a:solidFill>
              </a:rPr>
              <a:t>ı</a:t>
            </a:r>
            <a:r>
              <a:rPr lang="en-US" altLang="tr-TR" sz="1800">
                <a:solidFill>
                  <a:schemeClr val="tx1"/>
                </a:solidFill>
              </a:rPr>
              <a:t>k g</a:t>
            </a:r>
            <a:r>
              <a:rPr lang="en-US" altLang="en-US" sz="1800">
                <a:solidFill>
                  <a:schemeClr val="tx1"/>
                </a:solidFill>
              </a:rPr>
              <a:t>ö</a:t>
            </a:r>
            <a:r>
              <a:rPr lang="en-US" altLang="tr-TR" sz="1800">
                <a:solidFill>
                  <a:schemeClr val="tx1"/>
                </a:solidFill>
              </a:rPr>
              <a:t>r</a:t>
            </a:r>
            <a:r>
              <a:rPr lang="en-US" altLang="en-US" sz="1800">
                <a:solidFill>
                  <a:schemeClr val="tx1"/>
                </a:solidFill>
              </a:rPr>
              <a:t>ü</a:t>
            </a:r>
            <a:r>
              <a:rPr lang="en-US" altLang="tr-TR" sz="1800">
                <a:solidFill>
                  <a:schemeClr val="tx1"/>
                </a:solidFill>
              </a:rPr>
              <a:t>nt</a:t>
            </a:r>
            <a:r>
              <a:rPr lang="en-US" altLang="en-US" sz="1800">
                <a:solidFill>
                  <a:schemeClr val="tx1"/>
                </a:solidFill>
              </a:rPr>
              <a:t>ü (</a:t>
            </a:r>
            <a:r>
              <a:rPr lang="en-US" altLang="tr-TR" sz="1800">
                <a:solidFill>
                  <a:schemeClr val="tx1"/>
                </a:solidFill>
              </a:rPr>
              <a:t>snapshot), s</a:t>
            </a:r>
            <a:r>
              <a:rPr lang="" altLang="en-US" sz="1800">
                <a:solidFill>
                  <a:schemeClr val="tx1"/>
                </a:solidFill>
              </a:rPr>
              <a:t>ı</a:t>
            </a:r>
            <a:r>
              <a:rPr lang="en-US" altLang="tr-TR" sz="1800">
                <a:solidFill>
                  <a:schemeClr val="tx1"/>
                </a:solidFill>
              </a:rPr>
              <a:t>k</a:t>
            </a:r>
            <a:r>
              <a:rPr lang="" altLang="en-US" sz="1800">
                <a:solidFill>
                  <a:schemeClr val="tx1"/>
                </a:solidFill>
              </a:rPr>
              <a:t>ış</a:t>
            </a:r>
            <a:r>
              <a:rPr lang="en-US" altLang="tr-TR" sz="1800">
                <a:solidFill>
                  <a:schemeClr val="tx1"/>
                </a:solidFill>
              </a:rPr>
              <a:t>t</a:t>
            </a:r>
            <a:r>
              <a:rPr lang="" altLang="en-US" sz="1800">
                <a:solidFill>
                  <a:schemeClr val="tx1"/>
                </a:solidFill>
              </a:rPr>
              <a:t>ı</a:t>
            </a:r>
            <a:r>
              <a:rPr lang="en-US" altLang="tr-TR" sz="1800">
                <a:solidFill>
                  <a:schemeClr val="tx1"/>
                </a:solidFill>
              </a:rPr>
              <a:t>rma ve b</a:t>
            </a:r>
            <a:r>
              <a:rPr lang="en-US" altLang="en-US" sz="1800">
                <a:solidFill>
                  <a:schemeClr val="tx1"/>
                </a:solidFill>
              </a:rPr>
              <a:t>ü</a:t>
            </a:r>
            <a:r>
              <a:rPr lang="en-US" altLang="tr-TR" sz="1800">
                <a:solidFill>
                  <a:schemeClr val="tx1"/>
                </a:solidFill>
              </a:rPr>
              <a:t>y</a:t>
            </a:r>
            <a:r>
              <a:rPr lang="en-US" altLang="en-US" sz="1800">
                <a:solidFill>
                  <a:schemeClr val="tx1"/>
                </a:solidFill>
              </a:rPr>
              <a:t>ü</a:t>
            </a:r>
            <a:r>
              <a:rPr lang="en-US" altLang="tr-TR" sz="1800">
                <a:solidFill>
                  <a:schemeClr val="tx1"/>
                </a:solidFill>
              </a:rPr>
              <a:t>k </a:t>
            </a:r>
            <a:r>
              <a:rPr lang="en-US" altLang="en-US" sz="1800">
                <a:solidFill>
                  <a:schemeClr val="tx1"/>
                </a:solidFill>
              </a:rPr>
              <a:t>ö</a:t>
            </a:r>
            <a:r>
              <a:rPr lang="en-US" altLang="tr-TR" sz="1800">
                <a:solidFill>
                  <a:schemeClr val="tx1"/>
                </a:solidFill>
              </a:rPr>
              <a:t>l</a:t>
            </a:r>
            <a:r>
              <a:rPr lang="" altLang="en-US" sz="1800">
                <a:solidFill>
                  <a:schemeClr val="tx1"/>
                </a:solidFill>
              </a:rPr>
              <a:t>ç</a:t>
            </a:r>
            <a:r>
              <a:rPr lang="en-US" altLang="tr-TR" sz="1800">
                <a:solidFill>
                  <a:schemeClr val="tx1"/>
                </a:solidFill>
              </a:rPr>
              <a:t>eklenebilirlik sa</a:t>
            </a:r>
            <a:r>
              <a:rPr lang="" altLang="en-US" sz="1800">
                <a:solidFill>
                  <a:schemeClr val="tx1"/>
                </a:solidFill>
              </a:rPr>
              <a:t>ğ</a:t>
            </a:r>
            <a:r>
              <a:rPr lang="en-US" altLang="tr-TR" sz="1800">
                <a:solidFill>
                  <a:schemeClr val="tx1"/>
                </a:solidFill>
              </a:rPr>
              <a:t>lar.</a:t>
            </a:r>
            <a:endParaRPr lang="en-US" altLang="tr-TR" sz="1800">
              <a:solidFill>
                <a:schemeClr val="tx1"/>
              </a:solidFill>
            </a:endParaRPr>
          </a:p>
          <a:p>
            <a:r>
              <a:rPr lang="en-US" altLang="tr-TR" sz="1800">
                <a:solidFill>
                  <a:schemeClr val="tx1"/>
                </a:solidFill>
                <a:highlight>
                  <a:srgbClr val="FFFF00"/>
                </a:highlight>
              </a:rPr>
              <a:t>NTFS (New Technology File System):</a:t>
            </a:r>
            <a:r>
              <a:rPr lang="en-US" altLang="tr-TR" sz="1800">
                <a:solidFill>
                  <a:schemeClr val="tx1"/>
                </a:solidFill>
              </a:rPr>
              <a:t> Microsoft'un geli</a:t>
            </a:r>
            <a:r>
              <a:rPr lang="" altLang="en-US" sz="1800">
                <a:solidFill>
                  <a:schemeClr val="tx1"/>
                </a:solidFill>
              </a:rPr>
              <a:t>ş</a:t>
            </a:r>
            <a:r>
              <a:rPr lang="en-US" altLang="tr-TR" sz="1800">
                <a:solidFill>
                  <a:schemeClr val="tx1"/>
                </a:solidFill>
              </a:rPr>
              <a:t>tirdi</a:t>
            </a:r>
            <a:r>
              <a:rPr lang="" altLang="en-US" sz="1800">
                <a:solidFill>
                  <a:schemeClr val="tx1"/>
                </a:solidFill>
              </a:rPr>
              <a:t>ğ</a:t>
            </a:r>
            <a:r>
              <a:rPr lang="en-US" altLang="tr-TR" sz="1800">
                <a:solidFill>
                  <a:schemeClr val="tx1"/>
                </a:solidFill>
              </a:rPr>
              <a:t>i NTFS, dosya ve klas</a:t>
            </a:r>
            <a:r>
              <a:rPr lang="en-US" altLang="en-US" sz="1800">
                <a:solidFill>
                  <a:schemeClr val="tx1"/>
                </a:solidFill>
              </a:rPr>
              <a:t>ö</a:t>
            </a:r>
            <a:r>
              <a:rPr lang="en-US" altLang="tr-TR" sz="1800">
                <a:solidFill>
                  <a:schemeClr val="tx1"/>
                </a:solidFill>
              </a:rPr>
              <a:t>r kay</a:t>
            </a:r>
            <a:r>
              <a:rPr lang="" altLang="en-US" sz="1800">
                <a:solidFill>
                  <a:schemeClr val="tx1"/>
                </a:solidFill>
              </a:rPr>
              <a:t>ı</a:t>
            </a:r>
            <a:r>
              <a:rPr lang="en-US" altLang="tr-TR" sz="1800">
                <a:solidFill>
                  <a:schemeClr val="tx1"/>
                </a:solidFill>
              </a:rPr>
              <a:t>tlar</a:t>
            </a:r>
            <a:r>
              <a:rPr lang="" altLang="en-US" sz="1800">
                <a:solidFill>
                  <a:schemeClr val="tx1"/>
                </a:solidFill>
              </a:rPr>
              <a:t>ı</a:t>
            </a:r>
            <a:r>
              <a:rPr lang="en-US" altLang="tr-TR" sz="1800">
                <a:solidFill>
                  <a:schemeClr val="tx1"/>
                </a:solidFill>
              </a:rPr>
              <a:t>n</a:t>
            </a:r>
            <a:r>
              <a:rPr lang="" altLang="en-US" sz="1800">
                <a:solidFill>
                  <a:schemeClr val="tx1"/>
                </a:solidFill>
              </a:rPr>
              <a:t>ı </a:t>
            </a:r>
            <a:r>
              <a:rPr lang="en-US" altLang="tr-TR" sz="1800">
                <a:solidFill>
                  <a:schemeClr val="tx1"/>
                </a:solidFill>
              </a:rPr>
              <a:t>organize etmek ve bunlara h</a:t>
            </a:r>
            <a:r>
              <a:rPr lang="" altLang="en-US" sz="1800">
                <a:solidFill>
                  <a:schemeClr val="tx1"/>
                </a:solidFill>
              </a:rPr>
              <a:t>ı</a:t>
            </a:r>
            <a:r>
              <a:rPr lang="en-US" altLang="tr-TR" sz="1800">
                <a:solidFill>
                  <a:schemeClr val="tx1"/>
                </a:solidFill>
              </a:rPr>
              <a:t>zl</a:t>
            </a:r>
            <a:r>
              <a:rPr lang="" altLang="en-US" sz="1800">
                <a:solidFill>
                  <a:schemeClr val="tx1"/>
                </a:solidFill>
              </a:rPr>
              <a:t>ı </a:t>
            </a:r>
            <a:r>
              <a:rPr lang="en-US" altLang="tr-TR" sz="1800">
                <a:solidFill>
                  <a:schemeClr val="tx1"/>
                </a:solidFill>
              </a:rPr>
              <a:t>eri</a:t>
            </a:r>
            <a:r>
              <a:rPr lang="" altLang="en-US" sz="1800">
                <a:solidFill>
                  <a:schemeClr val="tx1"/>
                </a:solidFill>
              </a:rPr>
              <a:t>ş</a:t>
            </a:r>
            <a:r>
              <a:rPr lang="en-US" altLang="tr-TR" sz="1800">
                <a:solidFill>
                  <a:schemeClr val="tx1"/>
                </a:solidFill>
              </a:rPr>
              <a:t>im sa</a:t>
            </a:r>
            <a:r>
              <a:rPr lang="" altLang="en-US" sz="1800">
                <a:solidFill>
                  <a:schemeClr val="tx1"/>
                </a:solidFill>
              </a:rPr>
              <a:t>ğ</a:t>
            </a:r>
            <a:r>
              <a:rPr lang="en-US" altLang="tr-TR" sz="1800">
                <a:solidFill>
                  <a:schemeClr val="tx1"/>
                </a:solidFill>
              </a:rPr>
              <a:t>lamak i</a:t>
            </a:r>
            <a:r>
              <a:rPr lang="" altLang="en-US" sz="1800">
                <a:solidFill>
                  <a:schemeClr val="tx1"/>
                </a:solidFill>
              </a:rPr>
              <a:t>ç</a:t>
            </a:r>
            <a:r>
              <a:rPr lang="en-US" altLang="tr-TR" sz="1800">
                <a:solidFill>
                  <a:schemeClr val="tx1"/>
                </a:solidFill>
              </a:rPr>
              <a:t>in B+ a</a:t>
            </a:r>
            <a:r>
              <a:rPr lang="" altLang="en-US" sz="1800">
                <a:solidFill>
                  <a:schemeClr val="tx1"/>
                </a:solidFill>
              </a:rPr>
              <a:t>ğ</a:t>
            </a:r>
            <a:r>
              <a:rPr lang="en-US" altLang="tr-TR" sz="1800">
                <a:solidFill>
                  <a:schemeClr val="tx1"/>
                </a:solidFill>
              </a:rPr>
              <a:t>ac</a:t>
            </a:r>
            <a:r>
              <a:rPr lang="" altLang="en-US" sz="1800">
                <a:solidFill>
                  <a:schemeClr val="tx1"/>
                </a:solidFill>
              </a:rPr>
              <a:t>ı (</a:t>
            </a:r>
            <a:r>
              <a:rPr lang="en-US" altLang="tr-TR" sz="1800">
                <a:solidFill>
                  <a:schemeClr val="tx1"/>
                </a:solidFill>
              </a:rPr>
              <a:t>B-tree t</a:t>
            </a:r>
            <a:r>
              <a:rPr lang="en-US" altLang="en-US" sz="1800">
                <a:solidFill>
                  <a:schemeClr val="tx1"/>
                </a:solidFill>
              </a:rPr>
              <a:t>ü</a:t>
            </a:r>
            <a:r>
              <a:rPr lang="en-US" altLang="tr-TR" sz="1800">
                <a:solidFill>
                  <a:schemeClr val="tx1"/>
                </a:solidFill>
              </a:rPr>
              <a:t>revi) yap</a:t>
            </a:r>
            <a:r>
              <a:rPr lang="" altLang="en-US" sz="1800">
                <a:solidFill>
                  <a:schemeClr val="tx1"/>
                </a:solidFill>
              </a:rPr>
              <a:t>ı</a:t>
            </a:r>
            <a:r>
              <a:rPr lang="en-US" altLang="tr-TR" sz="1800">
                <a:solidFill>
                  <a:schemeClr val="tx1"/>
                </a:solidFill>
              </a:rPr>
              <a:t>s</a:t>
            </a:r>
            <a:r>
              <a:rPr lang="" altLang="en-US" sz="1800">
                <a:solidFill>
                  <a:schemeClr val="tx1"/>
                </a:solidFill>
              </a:rPr>
              <a:t>ı</a:t>
            </a:r>
            <a:r>
              <a:rPr lang="en-US" altLang="tr-TR" sz="1800">
                <a:solidFill>
                  <a:schemeClr val="tx1"/>
                </a:solidFill>
              </a:rPr>
              <a:t>n</a:t>
            </a:r>
            <a:r>
              <a:rPr lang="" altLang="en-US" sz="1800">
                <a:solidFill>
                  <a:schemeClr val="tx1"/>
                </a:solidFill>
              </a:rPr>
              <a:t>ı </a:t>
            </a:r>
            <a:r>
              <a:rPr lang="en-US" altLang="tr-TR" sz="1800">
                <a:solidFill>
                  <a:schemeClr val="tx1"/>
                </a:solidFill>
              </a:rPr>
              <a:t>kullan</a:t>
            </a:r>
            <a:r>
              <a:rPr lang="" altLang="en-US" sz="1800">
                <a:solidFill>
                  <a:schemeClr val="tx1"/>
                </a:solidFill>
              </a:rPr>
              <a:t>ı</a:t>
            </a:r>
            <a:r>
              <a:rPr lang="en-US" altLang="tr-TR" sz="1800">
                <a:solidFill>
                  <a:schemeClr val="tx1"/>
                </a:solidFill>
              </a:rPr>
              <a:t>r.</a:t>
            </a:r>
            <a:endParaRPr lang="en-US" altLang="tr-TR" sz="1800">
              <a:solidFill>
                <a:schemeClr val="tx1"/>
              </a:solidFill>
            </a:endParaRPr>
          </a:p>
          <a:p>
            <a:r>
              <a:rPr lang="en-US" altLang="tr-TR" sz="1800">
                <a:solidFill>
                  <a:schemeClr val="tx1"/>
                </a:solidFill>
                <a:highlight>
                  <a:srgbClr val="FFFF00"/>
                </a:highlight>
              </a:rPr>
              <a:t>HFS+: </a:t>
            </a:r>
            <a:r>
              <a:rPr lang="en-US" altLang="tr-TR" sz="1800">
                <a:solidFill>
                  <a:schemeClr val="tx1"/>
                </a:solidFill>
              </a:rPr>
              <a:t>Apple'</a:t>
            </a:r>
            <a:r>
              <a:rPr lang="" altLang="en-US" sz="1800">
                <a:solidFill>
                  <a:schemeClr val="tx1"/>
                </a:solidFill>
              </a:rPr>
              <a:t>ı</a:t>
            </a:r>
            <a:r>
              <a:rPr lang="en-US" altLang="tr-TR" sz="1800">
                <a:solidFill>
                  <a:schemeClr val="tx1"/>
                </a:solidFill>
              </a:rPr>
              <a:t>n macOS i</a:t>
            </a:r>
            <a:r>
              <a:rPr lang="" altLang="en-US" sz="1800">
                <a:solidFill>
                  <a:schemeClr val="tx1"/>
                </a:solidFill>
              </a:rPr>
              <a:t>ş</a:t>
            </a:r>
            <a:r>
              <a:rPr lang="en-US" altLang="tr-TR" sz="1800">
                <a:solidFill>
                  <a:schemeClr val="tx1"/>
                </a:solidFill>
              </a:rPr>
              <a:t>letim sistemlerinde kulland</a:t>
            </a:r>
            <a:r>
              <a:rPr lang="" altLang="en-US" sz="1800">
                <a:solidFill>
                  <a:schemeClr val="tx1"/>
                </a:solidFill>
              </a:rPr>
              <a:t>ığı </a:t>
            </a:r>
            <a:r>
              <a:rPr lang="en-US" altLang="tr-TR" sz="1800">
                <a:solidFill>
                  <a:schemeClr val="tx1"/>
                </a:solidFill>
              </a:rPr>
              <a:t>dosya sistemidir; dosyalar</a:t>
            </a:r>
            <a:r>
              <a:rPr lang="" altLang="en-US" sz="1800">
                <a:solidFill>
                  <a:schemeClr val="tx1"/>
                </a:solidFill>
              </a:rPr>
              <a:t>ı</a:t>
            </a:r>
            <a:r>
              <a:rPr lang="en-US" altLang="tr-TR" sz="1800">
                <a:solidFill>
                  <a:schemeClr val="tx1"/>
                </a:solidFill>
              </a:rPr>
              <a:t>n ve dizinlerin izini s</a:t>
            </a:r>
            <a:r>
              <a:rPr lang="en-US" altLang="en-US" sz="1800">
                <a:solidFill>
                  <a:schemeClr val="tx1"/>
                </a:solidFill>
              </a:rPr>
              <a:t>ü</a:t>
            </a:r>
            <a:r>
              <a:rPr lang="en-US" altLang="tr-TR" sz="1800">
                <a:solidFill>
                  <a:schemeClr val="tx1"/>
                </a:solidFill>
              </a:rPr>
              <a:t>rmek i</a:t>
            </a:r>
            <a:r>
              <a:rPr lang="" altLang="en-US" sz="1800">
                <a:solidFill>
                  <a:schemeClr val="tx1"/>
                </a:solidFill>
              </a:rPr>
              <a:t>ç</a:t>
            </a:r>
            <a:r>
              <a:rPr lang="en-US" altLang="tr-TR" sz="1800">
                <a:solidFill>
                  <a:schemeClr val="tx1"/>
                </a:solidFill>
              </a:rPr>
              <a:t>in B-a</a:t>
            </a:r>
            <a:r>
              <a:rPr lang="" altLang="en-US" sz="1800">
                <a:solidFill>
                  <a:schemeClr val="tx1"/>
                </a:solidFill>
              </a:rPr>
              <a:t>ğ</a:t>
            </a:r>
            <a:r>
              <a:rPr lang="en-US" altLang="tr-TR" sz="1800">
                <a:solidFill>
                  <a:schemeClr val="tx1"/>
                </a:solidFill>
              </a:rPr>
              <a:t>a</a:t>
            </a:r>
            <a:r>
              <a:rPr lang="" altLang="en-US" sz="1800">
                <a:solidFill>
                  <a:schemeClr val="tx1"/>
                </a:solidFill>
              </a:rPr>
              <a:t>ç</a:t>
            </a:r>
            <a:r>
              <a:rPr lang="en-US" altLang="tr-TR" sz="1800">
                <a:solidFill>
                  <a:schemeClr val="tx1"/>
                </a:solidFill>
              </a:rPr>
              <a:t>lar</a:t>
            </a:r>
            <a:r>
              <a:rPr lang="" altLang="en-US" sz="1800">
                <a:solidFill>
                  <a:schemeClr val="tx1"/>
                </a:solidFill>
              </a:rPr>
              <a:t>ı</a:t>
            </a:r>
            <a:r>
              <a:rPr lang="en-US" altLang="tr-TR" sz="1800">
                <a:solidFill>
                  <a:schemeClr val="tx1"/>
                </a:solidFill>
              </a:rPr>
              <a:t>ndan faydalan</a:t>
            </a:r>
            <a:r>
              <a:rPr lang="" altLang="en-US" sz="1800">
                <a:solidFill>
                  <a:schemeClr val="tx1"/>
                </a:solidFill>
              </a:rPr>
              <a:t>ı</a:t>
            </a:r>
            <a:r>
              <a:rPr lang="en-US" altLang="tr-TR" sz="1800">
                <a:solidFill>
                  <a:schemeClr val="tx1"/>
                </a:solidFill>
              </a:rPr>
              <a:t>r.</a:t>
            </a:r>
            <a:endParaRPr lang="en-US" altLang="tr-TR" sz="1800">
              <a:solidFill>
                <a:schemeClr val="tx1"/>
              </a:solidFill>
            </a:endParaRPr>
          </a:p>
          <a:p>
            <a:r>
              <a:rPr lang="en-US" altLang="tr-TR" sz="1800">
                <a:solidFill>
                  <a:schemeClr val="tx1"/>
                </a:solidFill>
                <a:highlight>
                  <a:srgbClr val="FFFF00"/>
                </a:highlight>
              </a:rPr>
              <a:t>ReiserFS:</a:t>
            </a:r>
            <a:r>
              <a:rPr lang="en-US" altLang="tr-TR" sz="1800">
                <a:solidFill>
                  <a:schemeClr val="tx1"/>
                </a:solidFill>
              </a:rPr>
              <a:t> Linux d</a:t>
            </a:r>
            <a:r>
              <a:rPr lang="en-US" altLang="en-US" sz="1800">
                <a:solidFill>
                  <a:schemeClr val="tx1"/>
                </a:solidFill>
              </a:rPr>
              <a:t>ü</a:t>
            </a:r>
            <a:r>
              <a:rPr lang="en-US" altLang="tr-TR" sz="1800">
                <a:solidFill>
                  <a:schemeClr val="tx1"/>
                </a:solidFill>
              </a:rPr>
              <a:t>nyas</a:t>
            </a:r>
            <a:r>
              <a:rPr lang="" altLang="en-US" sz="1800">
                <a:solidFill>
                  <a:schemeClr val="tx1"/>
                </a:solidFill>
              </a:rPr>
              <a:t>ı</a:t>
            </a:r>
            <a:r>
              <a:rPr lang="en-US" altLang="tr-TR" sz="1800">
                <a:solidFill>
                  <a:schemeClr val="tx1"/>
                </a:solidFill>
              </a:rPr>
              <a:t>nda meta verileri do</a:t>
            </a:r>
            <a:r>
              <a:rPr lang="" altLang="en-US" sz="1800">
                <a:solidFill>
                  <a:schemeClr val="tx1"/>
                </a:solidFill>
              </a:rPr>
              <a:t>ğ</a:t>
            </a:r>
            <a:r>
              <a:rPr lang="en-US" altLang="tr-TR" sz="1800">
                <a:solidFill>
                  <a:schemeClr val="tx1"/>
                </a:solidFill>
              </a:rPr>
              <a:t>rudan B-a</a:t>
            </a:r>
            <a:r>
              <a:rPr lang="" altLang="en-US" sz="1800">
                <a:solidFill>
                  <a:schemeClr val="tx1"/>
                </a:solidFill>
              </a:rPr>
              <a:t>ğ</a:t>
            </a:r>
            <a:r>
              <a:rPr lang="en-US" altLang="tr-TR" sz="1800">
                <a:solidFill>
                  <a:schemeClr val="tx1"/>
                </a:solidFill>
              </a:rPr>
              <a:t>a</a:t>
            </a:r>
            <a:r>
              <a:rPr lang="" altLang="en-US" sz="1800">
                <a:solidFill>
                  <a:schemeClr val="tx1"/>
                </a:solidFill>
              </a:rPr>
              <a:t>ç</a:t>
            </a:r>
            <a:r>
              <a:rPr lang="en-US" altLang="tr-TR" sz="1800">
                <a:solidFill>
                  <a:schemeClr val="tx1"/>
                </a:solidFill>
              </a:rPr>
              <a:t>lar</a:t>
            </a:r>
            <a:r>
              <a:rPr lang="" altLang="en-US" sz="1800">
                <a:solidFill>
                  <a:schemeClr val="tx1"/>
                </a:solidFill>
              </a:rPr>
              <a:t>ı </a:t>
            </a:r>
            <a:r>
              <a:rPr lang="en-US" altLang="tr-TR" sz="1800">
                <a:solidFill>
                  <a:schemeClr val="tx1"/>
                </a:solidFill>
              </a:rPr>
              <a:t>ile indeksleyen ve </a:t>
            </a:r>
            <a:r>
              <a:rPr lang="en-US" altLang="en-US" sz="1800">
                <a:solidFill>
                  <a:schemeClr val="tx1"/>
                </a:solidFill>
              </a:rPr>
              <a:t>ö</a:t>
            </a:r>
            <a:r>
              <a:rPr lang="en-US" altLang="tr-TR" sz="1800">
                <a:solidFill>
                  <a:schemeClr val="tx1"/>
                </a:solidFill>
              </a:rPr>
              <a:t>zellikle k</a:t>
            </a:r>
            <a:r>
              <a:rPr lang="en-US" altLang="en-US" sz="1800">
                <a:solidFill>
                  <a:schemeClr val="tx1"/>
                </a:solidFill>
              </a:rPr>
              <a:t>ü</a:t>
            </a:r>
            <a:r>
              <a:rPr lang="" altLang="en-US" sz="1800">
                <a:solidFill>
                  <a:schemeClr val="tx1"/>
                </a:solidFill>
              </a:rPr>
              <a:t>ç</a:t>
            </a:r>
            <a:r>
              <a:rPr lang="en-US" altLang="en-US" sz="1800">
                <a:solidFill>
                  <a:schemeClr val="tx1"/>
                </a:solidFill>
              </a:rPr>
              <a:t>ü</a:t>
            </a:r>
            <a:r>
              <a:rPr lang="en-US" altLang="tr-TR" sz="1800">
                <a:solidFill>
                  <a:schemeClr val="tx1"/>
                </a:solidFill>
              </a:rPr>
              <a:t>k boyutlu bir</a:t>
            </a:r>
            <a:r>
              <a:rPr lang="" altLang="en-US" sz="1800">
                <a:solidFill>
                  <a:schemeClr val="tx1"/>
                </a:solidFill>
              </a:rPr>
              <a:t>ç</a:t>
            </a:r>
            <a:r>
              <a:rPr lang="en-US" altLang="tr-TR" sz="1800">
                <a:solidFill>
                  <a:schemeClr val="tx1"/>
                </a:solidFill>
              </a:rPr>
              <a:t>ok dosyan</a:t>
            </a:r>
            <a:r>
              <a:rPr lang="" altLang="en-US" sz="1800">
                <a:solidFill>
                  <a:schemeClr val="tx1"/>
                </a:solidFill>
              </a:rPr>
              <a:t>ı</a:t>
            </a:r>
            <a:r>
              <a:rPr lang="en-US" altLang="tr-TR" sz="1800">
                <a:solidFill>
                  <a:schemeClr val="tx1"/>
                </a:solidFill>
              </a:rPr>
              <a:t>n sakland</a:t>
            </a:r>
            <a:r>
              <a:rPr lang="" altLang="en-US" sz="1800">
                <a:solidFill>
                  <a:schemeClr val="tx1"/>
                </a:solidFill>
              </a:rPr>
              <a:t>ığı </a:t>
            </a:r>
            <a:r>
              <a:rPr lang="en-US" altLang="tr-TR" sz="1800">
                <a:solidFill>
                  <a:schemeClr val="tx1"/>
                </a:solidFill>
              </a:rPr>
              <a:t>durumlarda y</a:t>
            </a:r>
            <a:r>
              <a:rPr lang="en-US" altLang="en-US" sz="1800">
                <a:solidFill>
                  <a:schemeClr val="tx1"/>
                </a:solidFill>
              </a:rPr>
              <a:t>ü</a:t>
            </a:r>
            <a:r>
              <a:rPr lang="en-US" altLang="tr-TR" sz="1800">
                <a:solidFill>
                  <a:schemeClr val="tx1"/>
                </a:solidFill>
              </a:rPr>
              <a:t>ksek performans veren </a:t>
            </a:r>
            <a:r>
              <a:rPr lang="en-US" altLang="en-US" sz="1800">
                <a:solidFill>
                  <a:schemeClr val="tx1"/>
                </a:solidFill>
              </a:rPr>
              <a:t>ö</a:t>
            </a:r>
            <a:r>
              <a:rPr lang="en-US" altLang="tr-TR" sz="1800">
                <a:solidFill>
                  <a:schemeClr val="tx1"/>
                </a:solidFill>
              </a:rPr>
              <a:t>nc</a:t>
            </a:r>
            <a:r>
              <a:rPr lang="en-US" altLang="en-US" sz="1800">
                <a:solidFill>
                  <a:schemeClr val="tx1"/>
                </a:solidFill>
              </a:rPr>
              <a:t>ü </a:t>
            </a:r>
            <a:r>
              <a:rPr lang="en-US" altLang="tr-TR" sz="1800">
                <a:solidFill>
                  <a:schemeClr val="tx1"/>
                </a:solidFill>
              </a:rPr>
              <a:t>bir dosya sistemidir.</a:t>
            </a:r>
            <a:endParaRPr lang="en-US" altLang="tr-TR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tr-TR" altLang="en-US"/>
              <a:t>Dosya Sistemlerinde Kullanımı</a:t>
            </a:r>
            <a:br>
              <a:rPr lang="tr-TR" altLang="en-US"/>
            </a:br>
            <a:r>
              <a:rPr lang="tr-TR" altLang="en-US"/>
              <a:t>B+ Ağaçları:</a:t>
            </a:r>
            <a:endParaRPr lang="tr-TR" altLang="en-US"/>
          </a:p>
        </p:txBody>
      </p:sp>
      <p:sp>
        <p:nvSpPr>
          <p:cNvPr id="3" name="İçerik Yer Tutucu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10000"/>
          </a:bodyPr>
          <a:p>
            <a:r>
              <a:rPr lang="" altLang="en-US">
                <a:solidFill>
                  <a:schemeClr val="accent6"/>
                </a:solidFill>
              </a:rPr>
              <a:t>Ç</a:t>
            </a:r>
            <a:r>
              <a:rPr lang="en-US" altLang="tr-TR">
                <a:solidFill>
                  <a:schemeClr val="accent6"/>
                </a:solidFill>
              </a:rPr>
              <a:t>al</a:t>
            </a:r>
            <a:r>
              <a:rPr lang="" altLang="en-US">
                <a:solidFill>
                  <a:schemeClr val="accent6"/>
                </a:solidFill>
              </a:rPr>
              <a:t>ış</a:t>
            </a:r>
            <a:r>
              <a:rPr lang="en-US" altLang="tr-TR">
                <a:solidFill>
                  <a:schemeClr val="accent6"/>
                </a:solidFill>
              </a:rPr>
              <a:t>ma Mant</a:t>
            </a:r>
            <a:r>
              <a:rPr lang="" altLang="en-US">
                <a:solidFill>
                  <a:schemeClr val="accent6"/>
                </a:solidFill>
              </a:rPr>
              <a:t>ığı</a:t>
            </a:r>
            <a:endParaRPr lang="" altLang="en-US">
              <a:solidFill>
                <a:schemeClr val="accent6"/>
              </a:solidFill>
            </a:endParaRPr>
          </a:p>
          <a:p>
            <a:r>
              <a:rPr lang="en-US" altLang="tr-TR">
                <a:highlight>
                  <a:srgbClr val="00FF00"/>
                </a:highlight>
              </a:rPr>
              <a:t>Yaprak D</a:t>
            </a:r>
            <a:r>
              <a:rPr lang="en-US" altLang="en-US">
                <a:highlight>
                  <a:srgbClr val="00FF00"/>
                </a:highlight>
              </a:rPr>
              <a:t>ü</a:t>
            </a:r>
            <a:r>
              <a:rPr lang="" altLang="en-US">
                <a:highlight>
                  <a:srgbClr val="00FF00"/>
                </a:highlight>
              </a:rPr>
              <a:t>ğ</a:t>
            </a:r>
            <a:r>
              <a:rPr lang="en-US" altLang="en-US">
                <a:highlight>
                  <a:srgbClr val="00FF00"/>
                </a:highlight>
              </a:rPr>
              <a:t>ü</a:t>
            </a:r>
            <a:r>
              <a:rPr lang="en-US" altLang="tr-TR">
                <a:highlight>
                  <a:srgbClr val="00FF00"/>
                </a:highlight>
              </a:rPr>
              <a:t>mler (Leaf Nodes):</a:t>
            </a:r>
            <a:r>
              <a:rPr lang="en-US" altLang="tr-TR"/>
              <a:t> Ger</a:t>
            </a:r>
            <a:r>
              <a:rPr lang="" altLang="en-US"/>
              <a:t>ç</a:t>
            </a:r>
            <a:r>
              <a:rPr lang="en-US" altLang="tr-TR"/>
              <a:t>ek dosya veya dizin verileri, yaln</a:t>
            </a:r>
            <a:r>
              <a:rPr lang="" altLang="en-US"/>
              <a:t>ı</a:t>
            </a:r>
            <a:r>
              <a:rPr lang="en-US" altLang="tr-TR"/>
              <a:t>zca s</a:t>
            </a:r>
            <a:r>
              <a:rPr lang="" altLang="en-US"/>
              <a:t>ı</a:t>
            </a:r>
            <a:r>
              <a:rPr lang="en-US" altLang="tr-TR"/>
              <a:t>ral</a:t>
            </a:r>
            <a:r>
              <a:rPr lang="" altLang="en-US"/>
              <a:t>ı </a:t>
            </a:r>
            <a:r>
              <a:rPr lang="en-US" altLang="tr-TR"/>
              <a:t>ba</a:t>
            </a:r>
            <a:r>
              <a:rPr lang="" altLang="en-US"/>
              <a:t>ğ</a:t>
            </a:r>
            <a:r>
              <a:rPr lang="en-US" altLang="tr-TR"/>
              <a:t>l</a:t>
            </a:r>
            <a:r>
              <a:rPr lang="" altLang="en-US"/>
              <a:t>ı </a:t>
            </a:r>
            <a:r>
              <a:rPr lang="en-US" altLang="tr-TR"/>
              <a:t>liste </a:t>
            </a:r>
            <a:r>
              <a:rPr lang="" altLang="en-US"/>
              <a:t>ş</a:t>
            </a:r>
            <a:r>
              <a:rPr lang="en-US" altLang="tr-TR"/>
              <a:t>eklinde tasarlanm</a:t>
            </a:r>
            <a:r>
              <a:rPr lang="" altLang="en-US"/>
              <a:t>ış </a:t>
            </a:r>
            <a:r>
              <a:rPr lang="en-US" altLang="tr-TR"/>
              <a:t>yaprak d</a:t>
            </a:r>
            <a:r>
              <a:rPr lang="en-US" altLang="en-US"/>
              <a:t>ü</a:t>
            </a:r>
            <a:r>
              <a:rPr lang="" altLang="en-US"/>
              <a:t>ğ</a:t>
            </a:r>
            <a:r>
              <a:rPr lang="en-US" altLang="en-US"/>
              <a:t>ü</a:t>
            </a:r>
            <a:r>
              <a:rPr lang="en-US" altLang="tr-TR"/>
              <a:t>mlerde tutulur.</a:t>
            </a:r>
            <a:endParaRPr lang="en-US" altLang="tr-TR"/>
          </a:p>
          <a:p>
            <a:endParaRPr lang="en-US" altLang="tr-TR"/>
          </a:p>
          <a:p>
            <a:r>
              <a:rPr lang="" altLang="en-US">
                <a:highlight>
                  <a:srgbClr val="00FF00"/>
                </a:highlight>
              </a:rPr>
              <a:t>İç </a:t>
            </a:r>
            <a:r>
              <a:rPr lang="en-US" altLang="tr-TR">
                <a:highlight>
                  <a:srgbClr val="00FF00"/>
                </a:highlight>
              </a:rPr>
              <a:t>D</a:t>
            </a:r>
            <a:r>
              <a:rPr lang="en-US" altLang="en-US">
                <a:highlight>
                  <a:srgbClr val="00FF00"/>
                </a:highlight>
              </a:rPr>
              <a:t>ü</a:t>
            </a:r>
            <a:r>
              <a:rPr lang="" altLang="en-US">
                <a:highlight>
                  <a:srgbClr val="00FF00"/>
                </a:highlight>
              </a:rPr>
              <a:t>ğ</a:t>
            </a:r>
            <a:r>
              <a:rPr lang="en-US" altLang="en-US">
                <a:highlight>
                  <a:srgbClr val="00FF00"/>
                </a:highlight>
              </a:rPr>
              <a:t>ü</a:t>
            </a:r>
            <a:r>
              <a:rPr lang="en-US" altLang="tr-TR">
                <a:highlight>
                  <a:srgbClr val="00FF00"/>
                </a:highlight>
              </a:rPr>
              <a:t>mler (Internal Nodes):</a:t>
            </a:r>
            <a:r>
              <a:rPr lang="en-US" altLang="tr-TR"/>
              <a:t> </a:t>
            </a:r>
            <a:r>
              <a:rPr lang="" altLang="en-US"/>
              <a:t>Ü</a:t>
            </a:r>
            <a:r>
              <a:rPr lang="en-US" altLang="tr-TR"/>
              <a:t>st seviyelerdeki i</a:t>
            </a:r>
            <a:r>
              <a:rPr lang="" altLang="en-US"/>
              <a:t>ç </a:t>
            </a:r>
            <a:r>
              <a:rPr lang="en-US" altLang="tr-TR"/>
              <a:t>d</a:t>
            </a:r>
            <a:r>
              <a:rPr lang="en-US" altLang="en-US"/>
              <a:t>ü</a:t>
            </a:r>
            <a:r>
              <a:rPr lang="" altLang="en-US"/>
              <a:t>ğ</a:t>
            </a:r>
            <a:r>
              <a:rPr lang="en-US" altLang="en-US"/>
              <a:t>ü</a:t>
            </a:r>
            <a:r>
              <a:rPr lang="en-US" altLang="tr-TR"/>
              <a:t>mler (dallanma noktalar</a:t>
            </a:r>
            <a:r>
              <a:rPr lang="" altLang="en-US"/>
              <a:t>ı) </a:t>
            </a:r>
            <a:r>
              <a:rPr lang="en-US" altLang="tr-TR"/>
              <a:t>ise sadece y</a:t>
            </a:r>
            <a:r>
              <a:rPr lang="en-US" altLang="en-US"/>
              <a:t>ö</a:t>
            </a:r>
            <a:r>
              <a:rPr lang="en-US" altLang="tr-TR"/>
              <a:t>nlendirme (indeks) anahtarlar</a:t>
            </a:r>
            <a:r>
              <a:rPr lang="" altLang="en-US"/>
              <a:t>ı</a:t>
            </a:r>
            <a:r>
              <a:rPr lang="en-US" altLang="tr-TR"/>
              <a:t>n</a:t>
            </a:r>
            <a:r>
              <a:rPr lang="" altLang="en-US"/>
              <a:t>ı </a:t>
            </a:r>
            <a:r>
              <a:rPr lang="en-US" altLang="tr-TR"/>
              <a:t>bar</a:t>
            </a:r>
            <a:r>
              <a:rPr lang="" altLang="en-US"/>
              <a:t>ı</a:t>
            </a:r>
            <a:r>
              <a:rPr lang="en-US" altLang="tr-TR"/>
              <a:t>nd</a:t>
            </a:r>
            <a:r>
              <a:rPr lang="" altLang="en-US"/>
              <a:t>ı</a:t>
            </a:r>
            <a:r>
              <a:rPr lang="en-US" altLang="tr-TR"/>
              <a:t>r</a:t>
            </a:r>
            <a:r>
              <a:rPr lang="" altLang="en-US"/>
              <a:t>ı</a:t>
            </a:r>
            <a:r>
              <a:rPr lang="en-US" altLang="tr-TR"/>
              <a:t>r. Bu sayede tek bir okuma i</a:t>
            </a:r>
            <a:r>
              <a:rPr lang="" altLang="en-US"/>
              <a:t>ş</a:t>
            </a:r>
            <a:r>
              <a:rPr lang="en-US" altLang="tr-TR"/>
              <a:t>leminde </a:t>
            </a:r>
            <a:r>
              <a:rPr lang="" altLang="en-US"/>
              <a:t>ç</a:t>
            </a:r>
            <a:r>
              <a:rPr lang="en-US" altLang="tr-TR"/>
              <a:t>ok daha fazla anahtar taranabilir.</a:t>
            </a:r>
            <a:endParaRPr lang="en-US" altLang="tr-TR"/>
          </a:p>
          <a:p>
            <a:endParaRPr lang="en-US" altLang="tr-TR"/>
          </a:p>
          <a:p>
            <a:r>
              <a:rPr lang="en-US" altLang="tr-TR">
                <a:highlight>
                  <a:srgbClr val="00FF00"/>
                </a:highlight>
              </a:rPr>
              <a:t>Ba</a:t>
            </a:r>
            <a:r>
              <a:rPr lang="" altLang="en-US">
                <a:highlight>
                  <a:srgbClr val="00FF00"/>
                </a:highlight>
              </a:rPr>
              <a:t>ğ</a:t>
            </a:r>
            <a:r>
              <a:rPr lang="en-US" altLang="tr-TR">
                <a:highlight>
                  <a:srgbClr val="00FF00"/>
                </a:highlight>
              </a:rPr>
              <a:t>lant</a:t>
            </a:r>
            <a:r>
              <a:rPr lang="" altLang="en-US">
                <a:highlight>
                  <a:srgbClr val="00FF00"/>
                </a:highlight>
              </a:rPr>
              <a:t>ı</a:t>
            </a:r>
            <a:r>
              <a:rPr lang="en-US" altLang="tr-TR">
                <a:highlight>
                  <a:srgbClr val="00FF00"/>
                </a:highlight>
              </a:rPr>
              <a:t>l</a:t>
            </a:r>
            <a:r>
              <a:rPr lang="" altLang="en-US">
                <a:highlight>
                  <a:srgbClr val="00FF00"/>
                </a:highlight>
              </a:rPr>
              <a:t>ı </a:t>
            </a:r>
            <a:r>
              <a:rPr lang="en-US" altLang="tr-TR">
                <a:highlight>
                  <a:srgbClr val="00FF00"/>
                </a:highlight>
              </a:rPr>
              <a:t>Liste Yap</a:t>
            </a:r>
            <a:r>
              <a:rPr lang="" altLang="en-US">
                <a:highlight>
                  <a:srgbClr val="00FF00"/>
                </a:highlight>
              </a:rPr>
              <a:t>ı</a:t>
            </a:r>
            <a:r>
              <a:rPr lang="en-US" altLang="tr-TR">
                <a:highlight>
                  <a:srgbClr val="00FF00"/>
                </a:highlight>
              </a:rPr>
              <a:t>s</a:t>
            </a:r>
            <a:r>
              <a:rPr lang="" altLang="en-US">
                <a:highlight>
                  <a:srgbClr val="00FF00"/>
                </a:highlight>
              </a:rPr>
              <a:t>ı:</a:t>
            </a:r>
            <a:r>
              <a:rPr lang="" altLang="en-US"/>
              <a:t> </a:t>
            </a:r>
            <a:r>
              <a:rPr lang="en-US" altLang="tr-TR"/>
              <a:t>Yaprak d</a:t>
            </a:r>
            <a:r>
              <a:rPr lang="en-US" altLang="en-US"/>
              <a:t>ü</a:t>
            </a:r>
            <a:r>
              <a:rPr lang="" altLang="en-US"/>
              <a:t>ğ</a:t>
            </a:r>
            <a:r>
              <a:rPr lang="en-US" altLang="en-US"/>
              <a:t>ü</a:t>
            </a:r>
            <a:r>
              <a:rPr lang="en-US" altLang="tr-TR"/>
              <a:t>mlerin birbirine </a:t>
            </a:r>
            <a:r>
              <a:rPr lang="" altLang="en-US"/>
              <a:t>ç</a:t>
            </a:r>
            <a:r>
              <a:rPr lang="en-US" altLang="tr-TR"/>
              <a:t>ift y</a:t>
            </a:r>
            <a:r>
              <a:rPr lang="en-US" altLang="en-US"/>
              <a:t>ö</a:t>
            </a:r>
            <a:r>
              <a:rPr lang="en-US" altLang="tr-TR"/>
              <a:t>nl</a:t>
            </a:r>
            <a:r>
              <a:rPr lang="en-US" altLang="en-US"/>
              <a:t>ü </a:t>
            </a:r>
            <a:r>
              <a:rPr lang="en-US" altLang="tr-TR"/>
              <a:t>ba</a:t>
            </a:r>
            <a:r>
              <a:rPr lang="" altLang="en-US"/>
              <a:t>ğ</a:t>
            </a:r>
            <a:r>
              <a:rPr lang="en-US" altLang="tr-TR"/>
              <a:t>l</a:t>
            </a:r>
            <a:r>
              <a:rPr lang="" altLang="en-US"/>
              <a:t>ı </a:t>
            </a:r>
            <a:r>
              <a:rPr lang="en-US" altLang="tr-TR"/>
              <a:t>olmas</a:t>
            </a:r>
            <a:r>
              <a:rPr lang="" altLang="en-US"/>
              <a:t>ı, </a:t>
            </a:r>
            <a:r>
              <a:rPr lang="en-US" altLang="tr-TR"/>
              <a:t>dosya sisteminde s</a:t>
            </a:r>
            <a:r>
              <a:rPr lang="" altLang="en-US"/>
              <a:t>ı</a:t>
            </a:r>
            <a:r>
              <a:rPr lang="en-US" altLang="tr-TR"/>
              <a:t>ral</a:t>
            </a:r>
            <a:r>
              <a:rPr lang="" altLang="en-US"/>
              <a:t>ı </a:t>
            </a:r>
            <a:r>
              <a:rPr lang="en-US" altLang="tr-TR"/>
              <a:t>i</a:t>
            </a:r>
            <a:r>
              <a:rPr lang="" altLang="en-US"/>
              <a:t>ş</a:t>
            </a:r>
            <a:r>
              <a:rPr lang="en-US" altLang="tr-TR"/>
              <a:t>lemleri (ard</a:t>
            </a:r>
            <a:r>
              <a:rPr lang="" altLang="en-US"/>
              <a:t>ışı</a:t>
            </a:r>
            <a:r>
              <a:rPr lang="en-US" altLang="tr-TR"/>
              <a:t>k okuma/yazma) inan</a:t>
            </a:r>
            <a:r>
              <a:rPr lang="" altLang="en-US"/>
              <a:t>ı</a:t>
            </a:r>
            <a:r>
              <a:rPr lang="en-US" altLang="tr-TR"/>
              <a:t>lmaz derecede h</a:t>
            </a:r>
            <a:r>
              <a:rPr lang="" altLang="en-US"/>
              <a:t>ı</a:t>
            </a:r>
            <a:r>
              <a:rPr lang="en-US" altLang="tr-TR"/>
              <a:t>zland</a:t>
            </a:r>
            <a:r>
              <a:rPr lang="" altLang="en-US"/>
              <a:t>ı</a:t>
            </a:r>
            <a:r>
              <a:rPr lang="en-US" altLang="tr-TR"/>
              <a:t>r</a:t>
            </a:r>
            <a:r>
              <a:rPr lang="" altLang="en-US"/>
              <a:t>ı</a:t>
            </a:r>
            <a:r>
              <a:rPr lang="en-US" altLang="tr-TR"/>
              <a:t>r.</a:t>
            </a:r>
            <a:endParaRPr lang="en-US" altLang="tr-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tr-TR" altLang="en-US">
                <a:sym typeface="+mn-ea"/>
              </a:rPr>
              <a:t>Dosya Sistemlerinde Kullanımı</a:t>
            </a:r>
            <a:br>
              <a:rPr lang="tr-TR" altLang="en-US">
                <a:sym typeface="+mn-ea"/>
              </a:rPr>
            </a:br>
            <a:r>
              <a:rPr lang="tr-TR" altLang="en-US">
                <a:sym typeface="+mn-ea"/>
              </a:rPr>
              <a:t>B+ Ağaçları:</a:t>
            </a:r>
            <a:endParaRPr lang="tr-TR" altLang="en-US"/>
          </a:p>
        </p:txBody>
      </p:sp>
      <p:sp>
        <p:nvSpPr>
          <p:cNvPr id="3" name="İçerik Yer Tutuc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en-US" altLang="tr-TR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</a:rPr>
              <a:t>Disk Bloklar</a:t>
            </a:r>
            <a:r>
              <a:rPr lang="" altLang="en-US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</a:rPr>
              <a:t>ı</a:t>
            </a:r>
            <a:r>
              <a:rPr lang="en-US" altLang="tr-TR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</a:rPr>
              <a:t>yla Uyum:</a:t>
            </a:r>
            <a:r>
              <a:rPr lang="en-US" altLang="tr-TR"/>
              <a:t> Dosya sistemleri veriyi sekt</a:t>
            </a:r>
            <a:r>
              <a:rPr lang="en-US" altLang="en-US"/>
              <a:t>ö</a:t>
            </a:r>
            <a:r>
              <a:rPr lang="en-US" altLang="tr-TR"/>
              <a:t>r veya bloklar halinde (</a:t>
            </a:r>
            <a:r>
              <a:rPr lang="en-US" altLang="en-US"/>
              <a:t>ö</a:t>
            </a:r>
            <a:r>
              <a:rPr lang="en-US" altLang="tr-TR"/>
              <a:t>rne</a:t>
            </a:r>
            <a:r>
              <a:rPr lang="" altLang="en-US"/>
              <a:t>ğ</a:t>
            </a:r>
            <a:r>
              <a:rPr lang="en-US" altLang="tr-TR"/>
              <a:t>in 4 KB) okur. B+ a</a:t>
            </a:r>
            <a:r>
              <a:rPr lang="" altLang="en-US"/>
              <a:t>ğ</a:t>
            </a:r>
            <a:r>
              <a:rPr lang="en-US" altLang="tr-TR"/>
              <a:t>a</a:t>
            </a:r>
            <a:r>
              <a:rPr lang="" altLang="en-US"/>
              <a:t>ç</a:t>
            </a:r>
            <a:r>
              <a:rPr lang="en-US" altLang="tr-TR"/>
              <a:t>lar</a:t>
            </a:r>
            <a:r>
              <a:rPr lang="" altLang="en-US"/>
              <a:t>ı </a:t>
            </a:r>
            <a:r>
              <a:rPr lang="en-US" altLang="tr-TR"/>
              <a:t>bu disk bloklar</a:t>
            </a:r>
            <a:r>
              <a:rPr lang="" altLang="en-US"/>
              <a:t>ı </a:t>
            </a:r>
            <a:r>
              <a:rPr lang="en-US" altLang="en-US"/>
              <a:t>ü</a:t>
            </a:r>
            <a:r>
              <a:rPr lang="en-US" altLang="tr-TR"/>
              <a:t>zerinde gezinmek i</a:t>
            </a:r>
            <a:r>
              <a:rPr lang="" altLang="en-US"/>
              <a:t>ç</a:t>
            </a:r>
            <a:r>
              <a:rPr lang="en-US" altLang="tr-TR"/>
              <a:t>in optimize edilmi</a:t>
            </a:r>
            <a:r>
              <a:rPr lang="" altLang="en-US"/>
              <a:t>ş</a:t>
            </a:r>
            <a:r>
              <a:rPr lang="en-US" altLang="tr-TR"/>
              <a:t>tir.</a:t>
            </a:r>
            <a:endParaRPr lang="en-US" altLang="tr-TR"/>
          </a:p>
          <a:p>
            <a:r>
              <a:rPr lang="en-US" altLang="tr-TR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</a:rPr>
              <a:t>Sabit Arama S</a:t>
            </a:r>
            <a:r>
              <a:rPr lang="en-US" altLang="en-US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</a:rPr>
              <a:t>ü</a:t>
            </a:r>
            <a:r>
              <a:rPr lang="en-US" altLang="tr-TR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</a:rPr>
              <a:t>resi:</a:t>
            </a:r>
            <a:r>
              <a:rPr lang="en-US" altLang="tr-TR"/>
              <a:t> Dizin a</a:t>
            </a:r>
            <a:r>
              <a:rPr lang="" altLang="en-US"/>
              <a:t>ğ</a:t>
            </a:r>
            <a:r>
              <a:rPr lang="en-US" altLang="tr-TR"/>
              <a:t>ac</a:t>
            </a:r>
            <a:r>
              <a:rPr lang="" altLang="en-US"/>
              <a:t>ı </a:t>
            </a:r>
            <a:r>
              <a:rPr lang="en-US" altLang="tr-TR"/>
              <a:t>b</a:t>
            </a:r>
            <a:r>
              <a:rPr lang="en-US" altLang="en-US"/>
              <a:t>ü</a:t>
            </a:r>
            <a:r>
              <a:rPr lang="en-US" altLang="tr-TR"/>
              <a:t>y</a:t>
            </a:r>
            <a:r>
              <a:rPr lang="en-US" altLang="en-US"/>
              <a:t>ü</a:t>
            </a:r>
            <a:r>
              <a:rPr lang="en-US" altLang="tr-TR"/>
              <a:t>se bile, arama, ekleme ve silme i</a:t>
            </a:r>
            <a:r>
              <a:rPr lang="" altLang="en-US"/>
              <a:t>ş</a:t>
            </a:r>
            <a:r>
              <a:rPr lang="en-US" altLang="tr-TR"/>
              <a:t>lemleri  zaman karma</a:t>
            </a:r>
            <a:r>
              <a:rPr lang="" altLang="en-US"/>
              <a:t>şı</a:t>
            </a:r>
            <a:r>
              <a:rPr lang="en-US" altLang="tr-TR"/>
              <a:t>kl</a:t>
            </a:r>
            <a:r>
              <a:rPr lang="" altLang="en-US"/>
              <a:t>ığı</a:t>
            </a:r>
            <a:r>
              <a:rPr lang="en-US" altLang="tr-TR"/>
              <a:t>nda ve </a:t>
            </a:r>
            <a:r>
              <a:rPr lang="en-US" altLang="en-US"/>
              <a:t>ö</a:t>
            </a:r>
            <a:r>
              <a:rPr lang="en-US" altLang="tr-TR"/>
              <a:t>ng</a:t>
            </a:r>
            <a:r>
              <a:rPr lang="en-US" altLang="en-US"/>
              <a:t>ö</a:t>
            </a:r>
            <a:r>
              <a:rPr lang="en-US" altLang="tr-TR"/>
              <a:t>r</a:t>
            </a:r>
            <a:r>
              <a:rPr lang="en-US" altLang="en-US"/>
              <a:t>ü</a:t>
            </a:r>
            <a:r>
              <a:rPr lang="en-US" altLang="tr-TR"/>
              <a:t>lebilir h</a:t>
            </a:r>
            <a:r>
              <a:rPr lang="" altLang="en-US"/>
              <a:t>ı</a:t>
            </a:r>
            <a:r>
              <a:rPr lang="en-US" altLang="tr-TR"/>
              <a:t>zda ger</a:t>
            </a:r>
            <a:r>
              <a:rPr lang="" altLang="en-US"/>
              <a:t>ç</a:t>
            </a:r>
            <a:r>
              <a:rPr lang="en-US" altLang="tr-TR"/>
              <a:t>ekle</a:t>
            </a:r>
            <a:r>
              <a:rPr lang="" altLang="en-US"/>
              <a:t>ş</a:t>
            </a:r>
            <a:r>
              <a:rPr lang="en-US" altLang="tr-TR"/>
              <a:t>ir.</a:t>
            </a:r>
            <a:endParaRPr lang="en-US" altLang="tr-TR"/>
          </a:p>
          <a:p>
            <a:r>
              <a:rPr lang="en-US" altLang="tr-TR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</a:rPr>
              <a:t>Daha Az Disk Okuma/Yazma (I/O):</a:t>
            </a:r>
            <a:r>
              <a:rPr lang="en-US" altLang="tr-TR"/>
              <a:t> Y</a:t>
            </a:r>
            <a:r>
              <a:rPr lang="en-US" altLang="en-US"/>
              <a:t>ö</a:t>
            </a:r>
            <a:r>
              <a:rPr lang="en-US" altLang="tr-TR"/>
              <a:t>nlendirme bilgisi i</a:t>
            </a:r>
            <a:r>
              <a:rPr lang="" altLang="en-US"/>
              <a:t>ç </a:t>
            </a:r>
            <a:r>
              <a:rPr lang="en-US" altLang="tr-TR"/>
              <a:t>d</a:t>
            </a:r>
            <a:r>
              <a:rPr lang="en-US" altLang="en-US"/>
              <a:t>ü</a:t>
            </a:r>
            <a:r>
              <a:rPr lang="" altLang="en-US"/>
              <a:t>ğ</a:t>
            </a:r>
            <a:r>
              <a:rPr lang="en-US" altLang="en-US"/>
              <a:t>ü</a:t>
            </a:r>
            <a:r>
              <a:rPr lang="en-US" altLang="tr-TR"/>
              <a:t>mlerde, verinin kendisi yapraklarda oldu</a:t>
            </a:r>
            <a:r>
              <a:rPr lang="" altLang="en-US"/>
              <a:t>ğ</a:t>
            </a:r>
            <a:r>
              <a:rPr lang="en-US" altLang="tr-TR"/>
              <a:t>undan, a</a:t>
            </a:r>
            <a:r>
              <a:rPr lang="" altLang="en-US"/>
              <a:t>ğ</a:t>
            </a:r>
            <a:r>
              <a:rPr lang="en-US" altLang="tr-TR"/>
              <a:t>a</a:t>
            </a:r>
            <a:r>
              <a:rPr lang="" altLang="en-US"/>
              <a:t>ç </a:t>
            </a:r>
            <a:r>
              <a:rPr lang="en-US" altLang="tr-TR"/>
              <a:t>daha s</a:t>
            </a:r>
            <a:r>
              <a:rPr lang="" altLang="en-US"/>
              <a:t>ığ </a:t>
            </a:r>
            <a:r>
              <a:rPr lang="en-US" altLang="tr-TR"/>
              <a:t>kal</a:t>
            </a:r>
            <a:r>
              <a:rPr lang="" altLang="en-US"/>
              <a:t>ı</a:t>
            </a:r>
            <a:r>
              <a:rPr lang="en-US" altLang="tr-TR"/>
              <a:t>r. Bu da aranan veriye ula</a:t>
            </a:r>
            <a:r>
              <a:rPr lang="" altLang="en-US"/>
              <a:t>ş</a:t>
            </a:r>
            <a:r>
              <a:rPr lang="en-US" altLang="tr-TR"/>
              <a:t>mak i</a:t>
            </a:r>
            <a:r>
              <a:rPr lang="" altLang="en-US"/>
              <a:t>ç</a:t>
            </a:r>
            <a:r>
              <a:rPr lang="en-US" altLang="tr-TR"/>
              <a:t>in gereken disk eri</a:t>
            </a:r>
            <a:r>
              <a:rPr lang="" altLang="en-US"/>
              <a:t>ş</a:t>
            </a:r>
            <a:r>
              <a:rPr lang="en-US" altLang="tr-TR"/>
              <a:t>im say</a:t>
            </a:r>
            <a:r>
              <a:rPr lang="" altLang="en-US"/>
              <a:t>ı</a:t>
            </a:r>
            <a:r>
              <a:rPr lang="en-US" altLang="tr-TR"/>
              <a:t>s</a:t>
            </a:r>
            <a:r>
              <a:rPr lang="" altLang="en-US"/>
              <a:t>ı</a:t>
            </a:r>
            <a:r>
              <a:rPr lang="en-US" altLang="tr-TR"/>
              <a:t>n</a:t>
            </a:r>
            <a:r>
              <a:rPr lang="" altLang="en-US"/>
              <a:t>ı </a:t>
            </a:r>
            <a:r>
              <a:rPr lang="en-US" altLang="tr-TR"/>
              <a:t>en aza indirir.</a:t>
            </a:r>
            <a:endParaRPr lang="en-US" altLang="tr-TR"/>
          </a:p>
          <a:p>
            <a:pPr marL="0" indent="0">
              <a:buNone/>
            </a:pPr>
            <a:endParaRPr lang="en-US" altLang="tr-TR"/>
          </a:p>
          <a:p>
            <a:r>
              <a:rPr lang="en-US" altLang="tr-TR">
                <a:solidFill>
                  <a:schemeClr val="accent5"/>
                </a:solidFill>
              </a:rPr>
              <a:t>Kullanan Dosya Sistemleri</a:t>
            </a:r>
            <a:r>
              <a:rPr lang="tr-TR" altLang="en-US">
                <a:solidFill>
                  <a:schemeClr val="accent5"/>
                </a:solidFill>
              </a:rPr>
              <a:t>:</a:t>
            </a:r>
            <a:r>
              <a:rPr lang="tr-TR" altLang="en-US">
                <a:solidFill>
                  <a:schemeClr val="tx1"/>
                </a:solidFill>
              </a:rPr>
              <a:t> </a:t>
            </a:r>
            <a:r>
              <a:rPr lang="en-US" altLang="tr-TR">
                <a:solidFill>
                  <a:schemeClr val="tx1"/>
                </a:solidFill>
              </a:rPr>
              <a:t>APFS</a:t>
            </a:r>
            <a:r>
              <a:rPr lang="tr-TR" altLang="en-US">
                <a:solidFill>
                  <a:schemeClr val="tx1"/>
                </a:solidFill>
              </a:rPr>
              <a:t>,NTFS,</a:t>
            </a:r>
            <a:r>
              <a:rPr lang="en-US" altLang="tr-TR">
                <a:solidFill>
                  <a:schemeClr val="tx1"/>
                </a:solidFill>
              </a:rPr>
              <a:t>ReiserFS</a:t>
            </a:r>
            <a:r>
              <a:rPr lang="tr-TR" altLang="en-US">
                <a:solidFill>
                  <a:schemeClr val="tx1"/>
                </a:solidFill>
              </a:rPr>
              <a:t>,XFS</a:t>
            </a:r>
            <a:endParaRPr lang="tr-TR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tr-TR" altLang="en-US"/>
              <a:t>B ve B+ Ağaçlarının Arama Motorları ve </a:t>
            </a:r>
            <a:br>
              <a:rPr lang="tr-TR" altLang="en-US"/>
            </a:br>
            <a:r>
              <a:rPr lang="tr-TR" altLang="en-US"/>
              <a:t>Büyük Veri Sistemlerinde Kullanımı:</a:t>
            </a:r>
            <a:endParaRPr lang="tr-TR" altLang="en-US"/>
          </a:p>
        </p:txBody>
      </p:sp>
      <p:sp>
        <p:nvSpPr>
          <p:cNvPr id="3" name="İçerik Yer Tutucu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22495"/>
          </a:xfrm>
        </p:spPr>
        <p:txBody>
          <a:bodyPr>
            <a:normAutofit fontScale="90000" lnSpcReduction="10000"/>
          </a:bodyPr>
          <a:p>
            <a:r>
              <a:rPr lang="en-US" altLang="tr-TR">
                <a:solidFill>
                  <a:srgbClr val="7030A0"/>
                </a:solidFill>
              </a:rPr>
              <a:t>Neden B</a:t>
            </a:r>
            <a:r>
              <a:rPr lang="en-US" altLang="en-US">
                <a:solidFill>
                  <a:srgbClr val="7030A0"/>
                </a:solidFill>
              </a:rPr>
              <a:t>ü</a:t>
            </a:r>
            <a:r>
              <a:rPr lang="en-US" altLang="tr-TR">
                <a:solidFill>
                  <a:srgbClr val="7030A0"/>
                </a:solidFill>
              </a:rPr>
              <a:t>y</a:t>
            </a:r>
            <a:r>
              <a:rPr lang="en-US" altLang="en-US">
                <a:solidFill>
                  <a:srgbClr val="7030A0"/>
                </a:solidFill>
              </a:rPr>
              <a:t>ü</a:t>
            </a:r>
            <a:r>
              <a:rPr lang="en-US" altLang="tr-TR">
                <a:solidFill>
                  <a:srgbClr val="7030A0"/>
                </a:solidFill>
              </a:rPr>
              <a:t>k Veritabanlar</a:t>
            </a:r>
            <a:r>
              <a:rPr lang="" altLang="en-US">
                <a:solidFill>
                  <a:srgbClr val="7030A0"/>
                </a:solidFill>
              </a:rPr>
              <a:t>ı </a:t>
            </a:r>
            <a:r>
              <a:rPr lang="en-US" altLang="tr-TR">
                <a:solidFill>
                  <a:srgbClr val="7030A0"/>
                </a:solidFill>
              </a:rPr>
              <a:t>ve Arama Motorlar</a:t>
            </a:r>
            <a:r>
              <a:rPr lang="" altLang="en-US">
                <a:solidFill>
                  <a:srgbClr val="7030A0"/>
                </a:solidFill>
              </a:rPr>
              <a:t>ı İç</a:t>
            </a:r>
            <a:r>
              <a:rPr lang="en-US" altLang="tr-TR">
                <a:solidFill>
                  <a:srgbClr val="7030A0"/>
                </a:solidFill>
              </a:rPr>
              <a:t>in Vazge</a:t>
            </a:r>
            <a:r>
              <a:rPr lang="" altLang="en-US">
                <a:solidFill>
                  <a:srgbClr val="7030A0"/>
                </a:solidFill>
              </a:rPr>
              <a:t>ç</a:t>
            </a:r>
            <a:r>
              <a:rPr lang="en-US" altLang="tr-TR">
                <a:solidFill>
                  <a:srgbClr val="7030A0"/>
                </a:solidFill>
              </a:rPr>
              <a:t>ilmezdir?</a:t>
            </a:r>
            <a:endParaRPr lang="en-US" altLang="tr-TR">
              <a:solidFill>
                <a:srgbClr val="7030A0"/>
              </a:solidFill>
            </a:endParaRPr>
          </a:p>
          <a:p>
            <a:r>
              <a:rPr lang="en-US" altLang="tr-TR">
                <a:solidFill>
                  <a:schemeClr val="accent5"/>
                </a:solidFill>
              </a:rPr>
              <a:t>Blok Tabanl</a:t>
            </a:r>
            <a:r>
              <a:rPr lang="" altLang="en-US">
                <a:solidFill>
                  <a:schemeClr val="accent5"/>
                </a:solidFill>
              </a:rPr>
              <a:t>ı </a:t>
            </a:r>
            <a:r>
              <a:rPr lang="en-US" altLang="tr-TR">
                <a:solidFill>
                  <a:schemeClr val="accent5"/>
                </a:solidFill>
              </a:rPr>
              <a:t>Okuma:</a:t>
            </a:r>
            <a:r>
              <a:rPr lang="en-US" altLang="tr-TR">
                <a:solidFill>
                  <a:srgbClr val="7030A0"/>
                </a:solidFill>
              </a:rPr>
              <a:t> </a:t>
            </a:r>
            <a:r>
              <a:rPr lang="en-US" altLang="tr-TR">
                <a:solidFill>
                  <a:schemeClr val="tx1"/>
                </a:solidFill>
              </a:rPr>
              <a:t>Sabit diskler (HDD) ve SSD'ler verileri k</a:t>
            </a:r>
            <a:r>
              <a:rPr lang="en-US" altLang="en-US">
                <a:solidFill>
                  <a:schemeClr val="tx1"/>
                </a:solidFill>
              </a:rPr>
              <a:t>ü</a:t>
            </a:r>
            <a:r>
              <a:rPr lang="" altLang="en-US">
                <a:solidFill>
                  <a:schemeClr val="tx1"/>
                </a:solidFill>
              </a:rPr>
              <a:t>ç</a:t>
            </a:r>
            <a:r>
              <a:rPr lang="en-US" altLang="en-US">
                <a:solidFill>
                  <a:schemeClr val="tx1"/>
                </a:solidFill>
              </a:rPr>
              <a:t>ü</a:t>
            </a:r>
            <a:r>
              <a:rPr lang="en-US" altLang="tr-TR">
                <a:solidFill>
                  <a:schemeClr val="tx1"/>
                </a:solidFill>
              </a:rPr>
              <a:t>k par</a:t>
            </a:r>
            <a:r>
              <a:rPr lang="" altLang="en-US">
                <a:solidFill>
                  <a:schemeClr val="tx1"/>
                </a:solidFill>
              </a:rPr>
              <a:t>ç</a:t>
            </a:r>
            <a:r>
              <a:rPr lang="en-US" altLang="tr-TR">
                <a:solidFill>
                  <a:schemeClr val="tx1"/>
                </a:solidFill>
              </a:rPr>
              <a:t>alar halinde de</a:t>
            </a:r>
            <a:r>
              <a:rPr lang="" altLang="en-US">
                <a:solidFill>
                  <a:schemeClr val="tx1"/>
                </a:solidFill>
              </a:rPr>
              <a:t>ğ</a:t>
            </a:r>
            <a:r>
              <a:rPr lang="en-US" altLang="tr-TR">
                <a:solidFill>
                  <a:schemeClr val="tx1"/>
                </a:solidFill>
              </a:rPr>
              <a:t>il, bloklar (page/cluster) halinde okur. B-a</a:t>
            </a:r>
            <a:r>
              <a:rPr lang="" altLang="en-US">
                <a:solidFill>
                  <a:schemeClr val="tx1"/>
                </a:solidFill>
              </a:rPr>
              <a:t>ğ</a:t>
            </a:r>
            <a:r>
              <a:rPr lang="en-US" altLang="tr-TR">
                <a:solidFill>
                  <a:schemeClr val="tx1"/>
                </a:solidFill>
              </a:rPr>
              <a:t>a</a:t>
            </a:r>
            <a:r>
              <a:rPr lang="" altLang="en-US">
                <a:solidFill>
                  <a:schemeClr val="tx1"/>
                </a:solidFill>
              </a:rPr>
              <a:t>ç</a:t>
            </a:r>
            <a:r>
              <a:rPr lang="en-US" altLang="tr-TR">
                <a:solidFill>
                  <a:schemeClr val="tx1"/>
                </a:solidFill>
              </a:rPr>
              <a:t>lar</a:t>
            </a:r>
            <a:r>
              <a:rPr lang="" altLang="en-US">
                <a:solidFill>
                  <a:schemeClr val="tx1"/>
                </a:solidFill>
              </a:rPr>
              <a:t>ı, </a:t>
            </a:r>
            <a:r>
              <a:rPr lang="en-US" altLang="tr-TR">
                <a:solidFill>
                  <a:schemeClr val="tx1"/>
                </a:solidFill>
              </a:rPr>
              <a:t>d</a:t>
            </a:r>
            <a:r>
              <a:rPr lang="en-US" altLang="en-US">
                <a:solidFill>
                  <a:schemeClr val="tx1"/>
                </a:solidFill>
              </a:rPr>
              <a:t>ü</a:t>
            </a:r>
            <a:r>
              <a:rPr lang="" altLang="en-US">
                <a:solidFill>
                  <a:schemeClr val="tx1"/>
                </a:solidFill>
              </a:rPr>
              <a:t>ğ</a:t>
            </a:r>
            <a:r>
              <a:rPr lang="en-US" altLang="en-US">
                <a:solidFill>
                  <a:schemeClr val="tx1"/>
                </a:solidFill>
              </a:rPr>
              <a:t>ü</a:t>
            </a:r>
            <a:r>
              <a:rPr lang="en-US" altLang="tr-TR">
                <a:solidFill>
                  <a:schemeClr val="tx1"/>
                </a:solidFill>
              </a:rPr>
              <a:t>mleri (node) disk bloklar</a:t>
            </a:r>
            <a:r>
              <a:rPr lang="" altLang="en-US">
                <a:solidFill>
                  <a:schemeClr val="tx1"/>
                </a:solidFill>
              </a:rPr>
              <a:t>ı</a:t>
            </a:r>
            <a:r>
              <a:rPr lang="en-US" altLang="tr-TR">
                <a:solidFill>
                  <a:schemeClr val="tx1"/>
                </a:solidFill>
              </a:rPr>
              <a:t>yla ayn</a:t>
            </a:r>
            <a:r>
              <a:rPr lang="" altLang="en-US">
                <a:solidFill>
                  <a:schemeClr val="tx1"/>
                </a:solidFill>
              </a:rPr>
              <a:t>ı </a:t>
            </a:r>
            <a:r>
              <a:rPr lang="en-US" altLang="tr-TR">
                <a:solidFill>
                  <a:schemeClr val="tx1"/>
                </a:solidFill>
              </a:rPr>
              <a:t>boyutta olacak </a:t>
            </a:r>
            <a:r>
              <a:rPr lang="" altLang="en-US">
                <a:solidFill>
                  <a:schemeClr val="tx1"/>
                </a:solidFill>
              </a:rPr>
              <a:t>ş</a:t>
            </a:r>
            <a:r>
              <a:rPr lang="en-US" altLang="tr-TR">
                <a:solidFill>
                  <a:schemeClr val="tx1"/>
                </a:solidFill>
              </a:rPr>
              <a:t>ekilde geni</a:t>
            </a:r>
            <a:r>
              <a:rPr lang="" altLang="en-US">
                <a:solidFill>
                  <a:schemeClr val="tx1"/>
                </a:solidFill>
              </a:rPr>
              <a:t>ş </a:t>
            </a:r>
            <a:r>
              <a:rPr lang="en-US" altLang="tr-TR">
                <a:solidFill>
                  <a:schemeClr val="tx1"/>
                </a:solidFill>
              </a:rPr>
              <a:t>tasarlan</a:t>
            </a:r>
            <a:r>
              <a:rPr lang="" altLang="en-US">
                <a:solidFill>
                  <a:schemeClr val="tx1"/>
                </a:solidFill>
              </a:rPr>
              <a:t>ı</a:t>
            </a:r>
            <a:r>
              <a:rPr lang="en-US" altLang="tr-TR">
                <a:solidFill>
                  <a:schemeClr val="tx1"/>
                </a:solidFill>
              </a:rPr>
              <a:t>r. Bu, tek bir disk okuma i</a:t>
            </a:r>
            <a:r>
              <a:rPr lang="" altLang="en-US">
                <a:solidFill>
                  <a:schemeClr val="tx1"/>
                </a:solidFill>
              </a:rPr>
              <a:t>ş</a:t>
            </a:r>
            <a:r>
              <a:rPr lang="en-US" altLang="tr-TR">
                <a:solidFill>
                  <a:schemeClr val="tx1"/>
                </a:solidFill>
              </a:rPr>
              <a:t>lemiyle </a:t>
            </a:r>
            <a:r>
              <a:rPr lang="" altLang="en-US">
                <a:solidFill>
                  <a:schemeClr val="tx1"/>
                </a:solidFill>
              </a:rPr>
              <a:t>ç</a:t>
            </a:r>
            <a:r>
              <a:rPr lang="en-US" altLang="tr-TR">
                <a:solidFill>
                  <a:schemeClr val="tx1"/>
                </a:solidFill>
              </a:rPr>
              <a:t>ok daha fazla veriye ve alt dala eri</a:t>
            </a:r>
            <a:r>
              <a:rPr lang="" altLang="en-US">
                <a:solidFill>
                  <a:schemeClr val="tx1"/>
                </a:solidFill>
              </a:rPr>
              <a:t>ş</a:t>
            </a:r>
            <a:r>
              <a:rPr lang="en-US" altLang="tr-TR">
                <a:solidFill>
                  <a:schemeClr val="tx1"/>
                </a:solidFill>
              </a:rPr>
              <a:t>ilmesini sa</a:t>
            </a:r>
            <a:r>
              <a:rPr lang="" altLang="en-US">
                <a:solidFill>
                  <a:schemeClr val="tx1"/>
                </a:solidFill>
              </a:rPr>
              <a:t>ğ</a:t>
            </a:r>
            <a:r>
              <a:rPr lang="en-US" altLang="tr-TR">
                <a:solidFill>
                  <a:schemeClr val="tx1"/>
                </a:solidFill>
              </a:rPr>
              <a:t>lar.</a:t>
            </a:r>
            <a:endParaRPr lang="en-US" altLang="tr-TR">
              <a:solidFill>
                <a:schemeClr val="tx1"/>
              </a:solidFill>
            </a:endParaRPr>
          </a:p>
          <a:p>
            <a:r>
              <a:rPr lang="en-US" altLang="tr-TR">
                <a:solidFill>
                  <a:schemeClr val="accent1">
                    <a:lumMod val="75000"/>
                  </a:schemeClr>
                </a:solidFill>
              </a:rPr>
              <a:t>Dengeli (Balanced) Yap</a:t>
            </a:r>
            <a:r>
              <a:rPr lang="" altLang="en-US">
                <a:solidFill>
                  <a:schemeClr val="accent1">
                    <a:lumMod val="75000"/>
                  </a:schemeClr>
                </a:solidFill>
              </a:rPr>
              <a:t>ı:</a:t>
            </a:r>
            <a:r>
              <a:rPr lang="" altLang="en-US">
                <a:solidFill>
                  <a:srgbClr val="7030A0"/>
                </a:solidFill>
              </a:rPr>
              <a:t> </a:t>
            </a:r>
            <a:r>
              <a:rPr lang="en-US" altLang="tr-TR">
                <a:solidFill>
                  <a:schemeClr val="tx1"/>
                </a:solidFill>
              </a:rPr>
              <a:t>A</a:t>
            </a:r>
            <a:r>
              <a:rPr lang="" altLang="en-US">
                <a:solidFill>
                  <a:schemeClr val="tx1"/>
                </a:solidFill>
              </a:rPr>
              <a:t>ğ</a:t>
            </a:r>
            <a:r>
              <a:rPr lang="en-US" altLang="tr-TR">
                <a:solidFill>
                  <a:schemeClr val="tx1"/>
                </a:solidFill>
              </a:rPr>
              <a:t>ac</a:t>
            </a:r>
            <a:r>
              <a:rPr lang="" altLang="en-US">
                <a:solidFill>
                  <a:schemeClr val="tx1"/>
                </a:solidFill>
              </a:rPr>
              <a:t>ı</a:t>
            </a:r>
            <a:r>
              <a:rPr lang="en-US" altLang="tr-TR">
                <a:solidFill>
                  <a:schemeClr val="tx1"/>
                </a:solidFill>
              </a:rPr>
              <a:t>n t</a:t>
            </a:r>
            <a:r>
              <a:rPr lang="en-US" altLang="en-US">
                <a:solidFill>
                  <a:schemeClr val="tx1"/>
                </a:solidFill>
              </a:rPr>
              <a:t>ü</a:t>
            </a:r>
            <a:r>
              <a:rPr lang="en-US" altLang="tr-TR">
                <a:solidFill>
                  <a:schemeClr val="tx1"/>
                </a:solidFill>
              </a:rPr>
              <a:t>m yaprak d</a:t>
            </a:r>
            <a:r>
              <a:rPr lang="en-US" altLang="en-US">
                <a:solidFill>
                  <a:schemeClr val="tx1"/>
                </a:solidFill>
              </a:rPr>
              <a:t>ü</a:t>
            </a:r>
            <a:r>
              <a:rPr lang="" altLang="en-US">
                <a:solidFill>
                  <a:schemeClr val="tx1"/>
                </a:solidFill>
              </a:rPr>
              <a:t>ğ</a:t>
            </a:r>
            <a:r>
              <a:rPr lang="en-US" altLang="en-US">
                <a:solidFill>
                  <a:schemeClr val="tx1"/>
                </a:solidFill>
              </a:rPr>
              <a:t>ü</a:t>
            </a:r>
            <a:r>
              <a:rPr lang="en-US" altLang="tr-TR">
                <a:solidFill>
                  <a:schemeClr val="tx1"/>
                </a:solidFill>
              </a:rPr>
              <a:t>mleri ayn</a:t>
            </a:r>
            <a:r>
              <a:rPr lang="" altLang="en-US">
                <a:solidFill>
                  <a:schemeClr val="tx1"/>
                </a:solidFill>
              </a:rPr>
              <a:t>ı </a:t>
            </a:r>
            <a:r>
              <a:rPr lang="en-US" altLang="tr-TR">
                <a:solidFill>
                  <a:schemeClr val="tx1"/>
                </a:solidFill>
              </a:rPr>
              <a:t>seviyededir. Bu sayede veriler derinlikte kaybolmaz; en k</a:t>
            </a:r>
            <a:r>
              <a:rPr lang="en-US" altLang="en-US">
                <a:solidFill>
                  <a:schemeClr val="tx1"/>
                </a:solidFill>
              </a:rPr>
              <a:t>ö</a:t>
            </a:r>
            <a:r>
              <a:rPr lang="en-US" altLang="tr-TR">
                <a:solidFill>
                  <a:schemeClr val="tx1"/>
                </a:solidFill>
              </a:rPr>
              <a:t>t</a:t>
            </a:r>
            <a:r>
              <a:rPr lang="en-US" altLang="en-US">
                <a:solidFill>
                  <a:schemeClr val="tx1"/>
                </a:solidFill>
              </a:rPr>
              <a:t>ü </a:t>
            </a:r>
            <a:r>
              <a:rPr lang="en-US" altLang="tr-TR">
                <a:solidFill>
                  <a:schemeClr val="tx1"/>
                </a:solidFill>
              </a:rPr>
              <a:t>senaryoda bile arama s</a:t>
            </a:r>
            <a:r>
              <a:rPr lang="en-US" altLang="en-US">
                <a:solidFill>
                  <a:schemeClr val="tx1"/>
                </a:solidFill>
              </a:rPr>
              <a:t>ü</a:t>
            </a:r>
            <a:r>
              <a:rPr lang="en-US" altLang="tr-TR">
                <a:solidFill>
                  <a:schemeClr val="tx1"/>
                </a:solidFill>
              </a:rPr>
              <a:t>resi tahmin edilebilirdir.</a:t>
            </a:r>
            <a:endParaRPr lang="en-US" altLang="tr-TR">
              <a:solidFill>
                <a:schemeClr val="tx1"/>
              </a:solidFill>
            </a:endParaRPr>
          </a:p>
          <a:p>
            <a:r>
              <a:rPr lang="en-US" altLang="tr-TR">
                <a:solidFill>
                  <a:schemeClr val="accent1">
                    <a:lumMod val="75000"/>
                  </a:schemeClr>
                </a:solidFill>
              </a:rPr>
              <a:t>Disk I/O Azalt</a:t>
            </a:r>
            <a:r>
              <a:rPr lang="" altLang="en-US">
                <a:solidFill>
                  <a:schemeClr val="accent1">
                    <a:lumMod val="75000"/>
                  </a:schemeClr>
                </a:solidFill>
              </a:rPr>
              <a:t>ı</a:t>
            </a:r>
            <a:r>
              <a:rPr lang="en-US" altLang="tr-TR">
                <a:solidFill>
                  <a:schemeClr val="accent1">
                    <a:lumMod val="75000"/>
                  </a:schemeClr>
                </a:solidFill>
              </a:rPr>
              <a:t>m</a:t>
            </a:r>
            <a:r>
              <a:rPr lang="" altLang="en-US">
                <a:solidFill>
                  <a:schemeClr val="accent1">
                    <a:lumMod val="75000"/>
                  </a:schemeClr>
                </a:solidFill>
              </a:rPr>
              <a:t>ı: </a:t>
            </a:r>
            <a:r>
              <a:rPr lang="en-US" altLang="tr-TR">
                <a:solidFill>
                  <a:schemeClr val="tx1"/>
                </a:solidFill>
              </a:rPr>
              <a:t>D</a:t>
            </a:r>
            <a:r>
              <a:rPr lang="en-US" altLang="en-US">
                <a:solidFill>
                  <a:schemeClr val="tx1"/>
                </a:solidFill>
              </a:rPr>
              <a:t>ü</a:t>
            </a:r>
            <a:r>
              <a:rPr lang="" altLang="en-US">
                <a:solidFill>
                  <a:schemeClr val="tx1"/>
                </a:solidFill>
              </a:rPr>
              <a:t>ğ</a:t>
            </a:r>
            <a:r>
              <a:rPr lang="en-US" altLang="en-US">
                <a:solidFill>
                  <a:schemeClr val="tx1"/>
                </a:solidFill>
              </a:rPr>
              <a:t>ü</a:t>
            </a:r>
            <a:r>
              <a:rPr lang="en-US" altLang="tr-TR">
                <a:solidFill>
                  <a:schemeClr val="tx1"/>
                </a:solidFill>
              </a:rPr>
              <a:t>mler ikiden fazla (geni</a:t>
            </a:r>
            <a:r>
              <a:rPr lang="" altLang="en-US">
                <a:solidFill>
                  <a:schemeClr val="tx1"/>
                </a:solidFill>
              </a:rPr>
              <a:t>ş) ç</a:t>
            </a:r>
            <a:r>
              <a:rPr lang="en-US" altLang="tr-TR">
                <a:solidFill>
                  <a:schemeClr val="tx1"/>
                </a:solidFill>
              </a:rPr>
              <a:t>ocuk tutabildi</a:t>
            </a:r>
            <a:r>
              <a:rPr lang="" altLang="en-US">
                <a:solidFill>
                  <a:schemeClr val="tx1"/>
                </a:solidFill>
              </a:rPr>
              <a:t>ğ</a:t>
            </a:r>
            <a:r>
              <a:rPr lang="en-US" altLang="tr-TR">
                <a:solidFill>
                  <a:schemeClr val="tx1"/>
                </a:solidFill>
              </a:rPr>
              <a:t>i i</a:t>
            </a:r>
            <a:r>
              <a:rPr lang="" altLang="en-US">
                <a:solidFill>
                  <a:schemeClr val="tx1"/>
                </a:solidFill>
              </a:rPr>
              <a:t>ç</a:t>
            </a:r>
            <a:r>
              <a:rPr lang="en-US" altLang="tr-TR">
                <a:solidFill>
                  <a:schemeClr val="tx1"/>
                </a:solidFill>
              </a:rPr>
              <a:t>in a</a:t>
            </a:r>
            <a:r>
              <a:rPr lang="" altLang="en-US">
                <a:solidFill>
                  <a:schemeClr val="tx1"/>
                </a:solidFill>
              </a:rPr>
              <a:t>ğ</a:t>
            </a:r>
            <a:r>
              <a:rPr lang="en-US" altLang="tr-TR">
                <a:solidFill>
                  <a:schemeClr val="tx1"/>
                </a:solidFill>
              </a:rPr>
              <a:t>ac</a:t>
            </a:r>
            <a:r>
              <a:rPr lang="" altLang="en-US">
                <a:solidFill>
                  <a:schemeClr val="tx1"/>
                </a:solidFill>
              </a:rPr>
              <a:t>ı</a:t>
            </a:r>
            <a:r>
              <a:rPr lang="en-US" altLang="tr-TR">
                <a:solidFill>
                  <a:schemeClr val="tx1"/>
                </a:solidFill>
              </a:rPr>
              <a:t>n boyu (derinli</a:t>
            </a:r>
            <a:r>
              <a:rPr lang="" altLang="en-US">
                <a:solidFill>
                  <a:schemeClr val="tx1"/>
                </a:solidFill>
              </a:rPr>
              <a:t>ğ</a:t>
            </a:r>
            <a:r>
              <a:rPr lang="en-US" altLang="tr-TR">
                <a:solidFill>
                  <a:schemeClr val="tx1"/>
                </a:solidFill>
              </a:rPr>
              <a:t>i) k</a:t>
            </a:r>
            <a:r>
              <a:rPr lang="" altLang="en-US">
                <a:solidFill>
                  <a:schemeClr val="tx1"/>
                </a:solidFill>
              </a:rPr>
              <a:t>ı</a:t>
            </a:r>
            <a:r>
              <a:rPr lang="en-US" altLang="tr-TR">
                <a:solidFill>
                  <a:schemeClr val="tx1"/>
                </a:solidFill>
              </a:rPr>
              <a:t>sa kal</a:t>
            </a:r>
            <a:r>
              <a:rPr lang="" altLang="en-US">
                <a:solidFill>
                  <a:schemeClr val="tx1"/>
                </a:solidFill>
              </a:rPr>
              <a:t>ı</a:t>
            </a:r>
            <a:r>
              <a:rPr lang="en-US" altLang="tr-TR">
                <a:solidFill>
                  <a:schemeClr val="tx1"/>
                </a:solidFill>
              </a:rPr>
              <a:t>r. Bu da fiziksel diske gitme gereksinimini (disk I/O) b</a:t>
            </a:r>
            <a:r>
              <a:rPr lang="en-US" altLang="en-US">
                <a:solidFill>
                  <a:schemeClr val="tx1"/>
                </a:solidFill>
              </a:rPr>
              <a:t>ü</a:t>
            </a:r>
            <a:r>
              <a:rPr lang="en-US" altLang="tr-TR">
                <a:solidFill>
                  <a:schemeClr val="tx1"/>
                </a:solidFill>
              </a:rPr>
              <a:t>y</a:t>
            </a:r>
            <a:r>
              <a:rPr lang="en-US" altLang="en-US">
                <a:solidFill>
                  <a:schemeClr val="tx1"/>
                </a:solidFill>
              </a:rPr>
              <a:t>ü</a:t>
            </a:r>
            <a:r>
              <a:rPr lang="en-US" altLang="tr-TR">
                <a:solidFill>
                  <a:schemeClr val="tx1"/>
                </a:solidFill>
              </a:rPr>
              <a:t>k </a:t>
            </a:r>
            <a:r>
              <a:rPr lang="en-US" altLang="en-US">
                <a:solidFill>
                  <a:schemeClr val="tx1"/>
                </a:solidFill>
              </a:rPr>
              <a:t>ö</a:t>
            </a:r>
            <a:r>
              <a:rPr lang="en-US" altLang="tr-TR">
                <a:solidFill>
                  <a:schemeClr val="tx1"/>
                </a:solidFill>
              </a:rPr>
              <a:t>l</a:t>
            </a:r>
            <a:r>
              <a:rPr lang="" altLang="en-US">
                <a:solidFill>
                  <a:schemeClr val="tx1"/>
                </a:solidFill>
              </a:rPr>
              <a:t>ç</a:t>
            </a:r>
            <a:r>
              <a:rPr lang="en-US" altLang="en-US">
                <a:solidFill>
                  <a:schemeClr val="tx1"/>
                </a:solidFill>
              </a:rPr>
              <a:t>ü</a:t>
            </a:r>
            <a:r>
              <a:rPr lang="en-US" altLang="tr-TR">
                <a:solidFill>
                  <a:schemeClr val="tx1"/>
                </a:solidFill>
              </a:rPr>
              <a:t>de d</a:t>
            </a:r>
            <a:r>
              <a:rPr lang="en-US" altLang="en-US">
                <a:solidFill>
                  <a:schemeClr val="tx1"/>
                </a:solidFill>
              </a:rPr>
              <a:t>ü</a:t>
            </a:r>
            <a:r>
              <a:rPr lang="" altLang="en-US">
                <a:solidFill>
                  <a:schemeClr val="tx1"/>
                </a:solidFill>
              </a:rPr>
              <a:t>ş</a:t>
            </a:r>
            <a:r>
              <a:rPr lang="en-US" altLang="en-US">
                <a:solidFill>
                  <a:schemeClr val="tx1"/>
                </a:solidFill>
              </a:rPr>
              <a:t>ü</a:t>
            </a:r>
            <a:r>
              <a:rPr lang="en-US" altLang="tr-TR">
                <a:solidFill>
                  <a:schemeClr val="tx1"/>
                </a:solidFill>
              </a:rPr>
              <a:t>r</a:t>
            </a:r>
            <a:r>
              <a:rPr lang="en-US" altLang="en-US">
                <a:solidFill>
                  <a:schemeClr val="tx1"/>
                </a:solidFill>
              </a:rPr>
              <a:t>ü</a:t>
            </a:r>
            <a:r>
              <a:rPr lang="en-US" altLang="tr-TR">
                <a:solidFill>
                  <a:schemeClr val="tx1"/>
                </a:solidFill>
              </a:rPr>
              <a:t>r.</a:t>
            </a:r>
            <a:endParaRPr lang="en-US" altLang="tr-TR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tr-TR" altLang="en-US">
                <a:solidFill>
                  <a:srgbClr val="C00000"/>
                </a:solidFill>
              </a:rPr>
              <a:t>!! </a:t>
            </a:r>
            <a:r>
              <a:rPr lang="en-US" altLang="tr-TR">
                <a:solidFill>
                  <a:srgbClr val="C00000"/>
                </a:solidFill>
              </a:rPr>
              <a:t>MySQL ve PostgreSQL gibi sistemlerde kay</a:t>
            </a:r>
            <a:r>
              <a:rPr lang="" altLang="en-US">
                <a:solidFill>
                  <a:srgbClr val="C00000"/>
                </a:solidFill>
              </a:rPr>
              <a:t>ı</a:t>
            </a:r>
            <a:r>
              <a:rPr lang="en-US" altLang="tr-TR">
                <a:solidFill>
                  <a:srgbClr val="C00000"/>
                </a:solidFill>
              </a:rPr>
              <a:t>tlar</a:t>
            </a:r>
            <a:r>
              <a:rPr lang="" altLang="en-US">
                <a:solidFill>
                  <a:srgbClr val="C00000"/>
                </a:solidFill>
              </a:rPr>
              <a:t>ı </a:t>
            </a:r>
            <a:r>
              <a:rPr lang="en-US" altLang="tr-TR">
                <a:solidFill>
                  <a:srgbClr val="C00000"/>
                </a:solidFill>
              </a:rPr>
              <a:t>anahtarlara g</a:t>
            </a:r>
            <a:r>
              <a:rPr lang="en-US" altLang="en-US">
                <a:solidFill>
                  <a:srgbClr val="C00000"/>
                </a:solidFill>
              </a:rPr>
              <a:t>ö</a:t>
            </a:r>
            <a:r>
              <a:rPr lang="en-US" altLang="tr-TR">
                <a:solidFill>
                  <a:srgbClr val="C00000"/>
                </a:solidFill>
              </a:rPr>
              <a:t>re bulmak i</a:t>
            </a:r>
            <a:r>
              <a:rPr lang="" altLang="en-US">
                <a:solidFill>
                  <a:srgbClr val="C00000"/>
                </a:solidFill>
              </a:rPr>
              <a:t>ç</a:t>
            </a:r>
            <a:r>
              <a:rPr lang="en-US" altLang="tr-TR">
                <a:solidFill>
                  <a:srgbClr val="C00000"/>
                </a:solidFill>
              </a:rPr>
              <a:t>in B-tree (ve t</a:t>
            </a:r>
            <a:r>
              <a:rPr lang="en-US" altLang="en-US">
                <a:solidFill>
                  <a:srgbClr val="C00000"/>
                </a:solidFill>
              </a:rPr>
              <a:t>ü</a:t>
            </a:r>
            <a:r>
              <a:rPr lang="en-US" altLang="tr-TR">
                <a:solidFill>
                  <a:srgbClr val="C00000"/>
                </a:solidFill>
              </a:rPr>
              <a:t>revi B+ tree) indeksleri varsay</a:t>
            </a:r>
            <a:r>
              <a:rPr lang="" altLang="en-US">
                <a:solidFill>
                  <a:srgbClr val="C00000"/>
                </a:solidFill>
              </a:rPr>
              <a:t>ı</a:t>
            </a:r>
            <a:r>
              <a:rPr lang="en-US" altLang="tr-TR">
                <a:solidFill>
                  <a:srgbClr val="C00000"/>
                </a:solidFill>
              </a:rPr>
              <a:t>lan olarak kullan</a:t>
            </a:r>
            <a:r>
              <a:rPr lang="" altLang="en-US">
                <a:solidFill>
                  <a:srgbClr val="C00000"/>
                </a:solidFill>
              </a:rPr>
              <a:t>ı</a:t>
            </a:r>
            <a:r>
              <a:rPr lang="en-US" altLang="tr-TR">
                <a:solidFill>
                  <a:srgbClr val="C00000"/>
                </a:solidFill>
              </a:rPr>
              <a:t>l</a:t>
            </a:r>
            <a:r>
              <a:rPr lang="" altLang="en-US">
                <a:solidFill>
                  <a:srgbClr val="C00000"/>
                </a:solidFill>
              </a:rPr>
              <a:t>ı</a:t>
            </a:r>
            <a:r>
              <a:rPr lang="en-US" altLang="tr-TR">
                <a:solidFill>
                  <a:srgbClr val="C00000"/>
                </a:solidFill>
              </a:rPr>
              <a:t>r.</a:t>
            </a:r>
            <a:endParaRPr lang="en-US" altLang="tr-TR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123825" y="365125"/>
            <a:ext cx="11229975" cy="1325880"/>
          </a:xfrm>
        </p:spPr>
        <p:txBody>
          <a:bodyPr>
            <a:normAutofit fontScale="90000"/>
          </a:bodyPr>
          <a:p>
            <a:r>
              <a:rPr lang="tr-TR" altLang="en-US">
                <a:solidFill>
                  <a:srgbClr val="C00000"/>
                </a:solidFill>
              </a:rPr>
              <a:t>B ve B+ Ağaçları </a:t>
            </a:r>
            <a:r>
              <a:rPr lang="en-US" altLang="tr-TR">
                <a:solidFill>
                  <a:srgbClr val="C00000"/>
                </a:solidFill>
              </a:rPr>
              <a:t>Neden </a:t>
            </a:r>
            <a:r>
              <a:rPr lang="tr-TR" altLang="en-US">
                <a:solidFill>
                  <a:srgbClr val="C00000"/>
                </a:solidFill>
              </a:rPr>
              <a:t>M</a:t>
            </a:r>
            <a:r>
              <a:rPr lang="en-US" altLang="tr-TR">
                <a:solidFill>
                  <a:srgbClr val="C00000"/>
                </a:solidFill>
              </a:rPr>
              <a:t>odern </a:t>
            </a:r>
            <a:r>
              <a:rPr lang="tr-TR" altLang="en-US">
                <a:solidFill>
                  <a:srgbClr val="C00000"/>
                </a:solidFill>
              </a:rPr>
              <a:t>S</a:t>
            </a:r>
            <a:r>
              <a:rPr lang="en-US" altLang="tr-TR">
                <a:solidFill>
                  <a:srgbClr val="C00000"/>
                </a:solidFill>
              </a:rPr>
              <a:t>istemlerde </a:t>
            </a:r>
            <a:r>
              <a:rPr lang="tr-TR" altLang="en-US">
                <a:solidFill>
                  <a:srgbClr val="C00000"/>
                </a:solidFill>
              </a:rPr>
              <a:t>T</a:t>
            </a:r>
            <a:r>
              <a:rPr lang="en-US" altLang="tr-TR">
                <a:solidFill>
                  <a:srgbClr val="C00000"/>
                </a:solidFill>
              </a:rPr>
              <a:t>ercih </a:t>
            </a:r>
            <a:r>
              <a:rPr lang="tr-TR" altLang="en-US">
                <a:solidFill>
                  <a:srgbClr val="C00000"/>
                </a:solidFill>
              </a:rPr>
              <a:t>E</a:t>
            </a:r>
            <a:r>
              <a:rPr lang="en-US" altLang="tr-TR">
                <a:solidFill>
                  <a:srgbClr val="C00000"/>
                </a:solidFill>
              </a:rPr>
              <a:t>dilmektedir?</a:t>
            </a:r>
            <a:endParaRPr lang="en-US" altLang="tr-TR">
              <a:solidFill>
                <a:srgbClr val="C00000"/>
              </a:solidFill>
            </a:endParaRPr>
          </a:p>
        </p:txBody>
      </p:sp>
      <p:pic>
        <p:nvPicPr>
          <p:cNvPr id="4" name="İçerik Yer Tutucu 3" descr="sgl b ağacı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318885" y="1522095"/>
            <a:ext cx="5598160" cy="5187950"/>
          </a:xfrm>
          <a:prstGeom prst="rect">
            <a:avLst/>
          </a:prstGeom>
        </p:spPr>
      </p:pic>
      <p:sp>
        <p:nvSpPr>
          <p:cNvPr id="5" name="Metin Kutusu 4"/>
          <p:cNvSpPr txBox="1"/>
          <p:nvPr/>
        </p:nvSpPr>
        <p:spPr>
          <a:xfrm>
            <a:off x="0" y="1522095"/>
            <a:ext cx="6089650" cy="51879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tr-TR"/>
              <a:t>Geleneksel ikili arama a</a:t>
            </a:r>
            <a:r>
              <a:rPr lang="" altLang="en-US"/>
              <a:t>ğ</a:t>
            </a:r>
            <a:r>
              <a:rPr lang="en-US" altLang="tr-TR"/>
              <a:t>a</a:t>
            </a:r>
            <a:r>
              <a:rPr lang="" altLang="en-US"/>
              <a:t>ç</a:t>
            </a:r>
            <a:r>
              <a:rPr lang="en-US" altLang="tr-TR"/>
              <a:t>lar</a:t>
            </a:r>
            <a:r>
              <a:rPr lang="" altLang="en-US"/>
              <a:t>ı (</a:t>
            </a:r>
            <a:r>
              <a:rPr lang="en-US" altLang="tr-TR"/>
              <a:t>BST, AVL, Red-Black) teoride </a:t>
            </a:r>
            <a:r>
              <a:rPr lang="" altLang="en-US"/>
              <a:t>ç</a:t>
            </a:r>
            <a:r>
              <a:rPr lang="en-US" altLang="tr-TR"/>
              <a:t>ok iyi olsalar da, i</a:t>
            </a:r>
            <a:r>
              <a:rPr lang="" altLang="en-US"/>
              <a:t>ş</a:t>
            </a:r>
            <a:r>
              <a:rPr lang="en-US" altLang="tr-TR"/>
              <a:t>in i</a:t>
            </a:r>
            <a:r>
              <a:rPr lang="" altLang="en-US"/>
              <a:t>ç</a:t>
            </a:r>
            <a:r>
              <a:rPr lang="en-US" altLang="tr-TR"/>
              <a:t>ine fiziksel disk geometrisi ve bellek hiyerar</a:t>
            </a:r>
            <a:r>
              <a:rPr lang="" altLang="en-US"/>
              <a:t>ş</a:t>
            </a:r>
            <a:r>
              <a:rPr lang="en-US" altLang="tr-TR"/>
              <a:t>isi girdi</a:t>
            </a:r>
            <a:r>
              <a:rPr lang="" altLang="en-US"/>
              <a:t>ğ</a:t>
            </a:r>
            <a:r>
              <a:rPr lang="en-US" altLang="tr-TR"/>
              <a:t>inde yetersiz kal</a:t>
            </a:r>
            <a:r>
              <a:rPr lang="" altLang="en-US"/>
              <a:t>ı</a:t>
            </a:r>
            <a:r>
              <a:rPr lang="en-US" altLang="tr-TR"/>
              <a:t>rlar.</a:t>
            </a:r>
            <a:endParaRPr lang="en-US" altLang="tr-TR"/>
          </a:p>
          <a:p>
            <a:endParaRPr lang="en-US" altLang="tr-TR"/>
          </a:p>
          <a:p>
            <a:r>
              <a:rPr lang="en-US" altLang="tr-TR" sz="2400">
                <a:solidFill>
                  <a:schemeClr val="accent6">
                    <a:lumMod val="50000"/>
                  </a:schemeClr>
                </a:solidFill>
              </a:rPr>
              <a:t>Geni</a:t>
            </a:r>
            <a:r>
              <a:rPr lang="" altLang="en-US" sz="2400">
                <a:solidFill>
                  <a:schemeClr val="accent6">
                    <a:lumMod val="50000"/>
                  </a:schemeClr>
                </a:solidFill>
              </a:rPr>
              <a:t>ş </a:t>
            </a:r>
            <a:r>
              <a:rPr lang="en-US" altLang="tr-TR" sz="2400">
                <a:solidFill>
                  <a:schemeClr val="accent6">
                    <a:lumMod val="50000"/>
                  </a:schemeClr>
                </a:solidFill>
              </a:rPr>
              <a:t>ve Bas</a:t>
            </a:r>
            <a:r>
              <a:rPr lang="" altLang="en-US" sz="2400">
                <a:solidFill>
                  <a:schemeClr val="accent6">
                    <a:lumMod val="50000"/>
                  </a:schemeClr>
                </a:solidFill>
              </a:rPr>
              <a:t>ı</a:t>
            </a:r>
            <a:r>
              <a:rPr lang="en-US" altLang="tr-TR" sz="2400">
                <a:solidFill>
                  <a:schemeClr val="accent6">
                    <a:lumMod val="50000"/>
                  </a:schemeClr>
                </a:solidFill>
              </a:rPr>
              <a:t>k (Dengeli) Yap</a:t>
            </a:r>
            <a:r>
              <a:rPr lang="" altLang="en-US" sz="2400">
                <a:solidFill>
                  <a:schemeClr val="accent6">
                    <a:lumMod val="50000"/>
                  </a:schemeClr>
                </a:solidFill>
              </a:rPr>
              <a:t>ı:</a:t>
            </a:r>
            <a:r>
              <a:rPr lang="" altLang="en-US"/>
              <a:t> İ</a:t>
            </a:r>
            <a:r>
              <a:rPr lang="en-US" altLang="tr-TR"/>
              <a:t>kili a</a:t>
            </a:r>
            <a:r>
              <a:rPr lang="" altLang="en-US"/>
              <a:t>ğ</a:t>
            </a:r>
            <a:r>
              <a:rPr lang="en-US" altLang="tr-TR"/>
              <a:t>a</a:t>
            </a:r>
            <a:r>
              <a:rPr lang="" altLang="en-US"/>
              <a:t>ç</a:t>
            </a:r>
            <a:r>
              <a:rPr lang="en-US" altLang="tr-TR"/>
              <a:t>lar her d</a:t>
            </a:r>
            <a:r>
              <a:rPr lang="en-US" altLang="en-US"/>
              <a:t>ü</a:t>
            </a:r>
            <a:r>
              <a:rPr lang="" altLang="en-US"/>
              <a:t>ğ</a:t>
            </a:r>
            <a:r>
              <a:rPr lang="en-US" altLang="en-US"/>
              <a:t>ü</a:t>
            </a:r>
            <a:r>
              <a:rPr lang="en-US" altLang="tr-TR"/>
              <a:t>mde sadece bir anahtar tutar ve </a:t>
            </a:r>
            <a:r>
              <a:rPr lang="" altLang="en-US"/>
              <a:t>ç</a:t>
            </a:r>
            <a:r>
              <a:rPr lang="en-US" altLang="tr-TR"/>
              <a:t>ok derindir (y</a:t>
            </a:r>
            <a:r>
              <a:rPr lang="en-US" altLang="en-US"/>
              <a:t>ü</a:t>
            </a:r>
            <a:r>
              <a:rPr lang="en-US" altLang="tr-TR"/>
              <a:t>ksektir). B ve B+ a</a:t>
            </a:r>
            <a:r>
              <a:rPr lang="" altLang="en-US"/>
              <a:t>ğ</a:t>
            </a:r>
            <a:r>
              <a:rPr lang="en-US" altLang="tr-TR"/>
              <a:t>a</a:t>
            </a:r>
            <a:r>
              <a:rPr lang="" altLang="en-US"/>
              <a:t>ç</a:t>
            </a:r>
            <a:r>
              <a:rPr lang="en-US" altLang="tr-TR"/>
              <a:t>lar</a:t>
            </a:r>
            <a:r>
              <a:rPr lang="" altLang="en-US"/>
              <a:t>ı </a:t>
            </a:r>
            <a:r>
              <a:rPr lang="en-US" altLang="tr-TR"/>
              <a:t>ise her d</a:t>
            </a:r>
            <a:r>
              <a:rPr lang="en-US" altLang="en-US"/>
              <a:t>ü</a:t>
            </a:r>
            <a:r>
              <a:rPr lang="" altLang="en-US"/>
              <a:t>ğ</a:t>
            </a:r>
            <a:r>
              <a:rPr lang="en-US" altLang="en-US"/>
              <a:t>ü</a:t>
            </a:r>
            <a:r>
              <a:rPr lang="en-US" altLang="tr-TR"/>
              <a:t>mde y</a:t>
            </a:r>
            <a:r>
              <a:rPr lang="en-US" altLang="en-US"/>
              <a:t>ü</a:t>
            </a:r>
            <a:r>
              <a:rPr lang="en-US" altLang="tr-TR"/>
              <a:t>zlerce, hatta binlerce anahtar tutabilir. Bu sayede a</a:t>
            </a:r>
            <a:r>
              <a:rPr lang="" altLang="en-US"/>
              <a:t>ğ</a:t>
            </a:r>
            <a:r>
              <a:rPr lang="en-US" altLang="tr-TR"/>
              <a:t>ac</a:t>
            </a:r>
            <a:r>
              <a:rPr lang="" altLang="en-US"/>
              <a:t>ı</a:t>
            </a:r>
            <a:r>
              <a:rPr lang="en-US" altLang="tr-TR"/>
              <a:t>n y</a:t>
            </a:r>
            <a:r>
              <a:rPr lang="en-US" altLang="en-US"/>
              <a:t>ü</a:t>
            </a:r>
            <a:r>
              <a:rPr lang="en-US" altLang="tr-TR"/>
              <a:t>ksekli</a:t>
            </a:r>
            <a:r>
              <a:rPr lang="" altLang="en-US"/>
              <a:t>ğ</a:t>
            </a:r>
            <a:r>
              <a:rPr lang="en-US" altLang="tr-TR"/>
              <a:t>i</a:t>
            </a:r>
            <a:r>
              <a:rPr lang="tr-TR" altLang="en-US"/>
              <a:t> </a:t>
            </a:r>
            <a:r>
              <a:rPr lang="en-US" altLang="tr-TR"/>
              <a:t>genellikle 3 veya 4 katmanla s</a:t>
            </a:r>
            <a:r>
              <a:rPr lang="" altLang="en-US"/>
              <a:t>ı</a:t>
            </a:r>
            <a:r>
              <a:rPr lang="en-US" altLang="tr-TR"/>
              <a:t>n</a:t>
            </a:r>
            <a:r>
              <a:rPr lang="" altLang="en-US"/>
              <a:t>ı</a:t>
            </a:r>
            <a:r>
              <a:rPr lang="en-US" altLang="tr-TR"/>
              <a:t>rl</a:t>
            </a:r>
            <a:r>
              <a:rPr lang="" altLang="en-US"/>
              <a:t>ı </a:t>
            </a:r>
            <a:r>
              <a:rPr lang="en-US" altLang="tr-TR"/>
              <a:t>kal</a:t>
            </a:r>
            <a:r>
              <a:rPr lang="" altLang="en-US"/>
              <a:t>ı</a:t>
            </a:r>
            <a:r>
              <a:rPr lang="en-US" altLang="tr-TR"/>
              <a:t>r. milyonlarca veri aras</a:t>
            </a:r>
            <a:r>
              <a:rPr lang="" altLang="en-US"/>
              <a:t>ı</a:t>
            </a:r>
            <a:r>
              <a:rPr lang="en-US" altLang="tr-TR"/>
              <a:t>nda arama yaparken sadece 3-4 disk okumas</a:t>
            </a:r>
            <a:r>
              <a:rPr lang="" altLang="en-US"/>
              <a:t>ı </a:t>
            </a:r>
            <a:r>
              <a:rPr lang="en-US" altLang="tr-TR"/>
              <a:t>yeterli olur.</a:t>
            </a:r>
            <a:endParaRPr lang="en-US" altLang="tr-TR"/>
          </a:p>
          <a:p>
            <a:endParaRPr lang="en-US" altLang="tr-TR"/>
          </a:p>
          <a:p>
            <a:r>
              <a:rPr lang="en-US" altLang="tr-TR" sz="2400">
                <a:solidFill>
                  <a:schemeClr val="accent6">
                    <a:lumMod val="50000"/>
                  </a:schemeClr>
                </a:solidFill>
              </a:rPr>
              <a:t>Sayfa Boyutu ile Uyum:</a:t>
            </a:r>
            <a:r>
              <a:rPr lang="en-US" altLang="tr-TR"/>
              <a:t> </a:t>
            </a:r>
            <a:r>
              <a:rPr lang="" altLang="en-US"/>
              <a:t>İş</a:t>
            </a:r>
            <a:r>
              <a:rPr lang="en-US" altLang="tr-TR"/>
              <a:t>letim sistemleri diskten veriyi bayt bayt de</a:t>
            </a:r>
            <a:r>
              <a:rPr lang="" altLang="en-US"/>
              <a:t>ğ</a:t>
            </a:r>
            <a:r>
              <a:rPr lang="en-US" altLang="tr-TR"/>
              <a:t>il, "Sayfa" (genellikle 4KB veya 8KB) ad</a:t>
            </a:r>
            <a:r>
              <a:rPr lang="" altLang="en-US"/>
              <a:t>ı </a:t>
            </a:r>
            <a:r>
              <a:rPr lang="en-US" altLang="tr-TR"/>
              <a:t>verilen bloklar halinde okur. B/B+ a</a:t>
            </a:r>
            <a:r>
              <a:rPr lang="" altLang="en-US"/>
              <a:t>ğ</a:t>
            </a:r>
            <a:r>
              <a:rPr lang="en-US" altLang="tr-TR"/>
              <a:t>a</a:t>
            </a:r>
            <a:r>
              <a:rPr lang="" altLang="en-US"/>
              <a:t>ç</a:t>
            </a:r>
            <a:r>
              <a:rPr lang="en-US" altLang="tr-TR"/>
              <a:t>lar</a:t>
            </a:r>
            <a:r>
              <a:rPr lang="" altLang="en-US"/>
              <a:t>ı</a:t>
            </a:r>
            <a:r>
              <a:rPr lang="en-US" altLang="tr-TR"/>
              <a:t>n</a:t>
            </a:r>
            <a:r>
              <a:rPr lang="" altLang="en-US"/>
              <a:t>ı</a:t>
            </a:r>
            <a:r>
              <a:rPr lang="en-US" altLang="tr-TR"/>
              <a:t>n bir d</a:t>
            </a:r>
            <a:r>
              <a:rPr lang="en-US" altLang="en-US"/>
              <a:t>ü</a:t>
            </a:r>
            <a:r>
              <a:rPr lang="" altLang="en-US"/>
              <a:t>ğ</a:t>
            </a:r>
            <a:r>
              <a:rPr lang="en-US" altLang="en-US"/>
              <a:t>ü</a:t>
            </a:r>
            <a:r>
              <a:rPr lang="en-US" altLang="tr-TR"/>
              <a:t>m</a:t>
            </a:r>
            <a:r>
              <a:rPr lang="en-US" altLang="en-US"/>
              <a:t>ü</a:t>
            </a:r>
            <a:r>
              <a:rPr lang="en-US" altLang="tr-TR"/>
              <a:t>n</a:t>
            </a:r>
            <a:r>
              <a:rPr lang="en-US" altLang="en-US"/>
              <a:t>ü</a:t>
            </a:r>
            <a:r>
              <a:rPr lang="en-US" altLang="tr-TR"/>
              <a:t>n boyutu, tam olarak bu disk sayfa boyutuna denk gelecek </a:t>
            </a:r>
            <a:r>
              <a:rPr lang="" altLang="en-US"/>
              <a:t>ş</a:t>
            </a:r>
            <a:r>
              <a:rPr lang="en-US" altLang="tr-TR"/>
              <a:t>ekilde ayarlan</a:t>
            </a:r>
            <a:r>
              <a:rPr lang="" altLang="en-US"/>
              <a:t>ı</a:t>
            </a:r>
            <a:r>
              <a:rPr lang="en-US" altLang="tr-TR"/>
              <a:t>r. B</a:t>
            </a:r>
            <a:r>
              <a:rPr lang="en-US" altLang="en-US"/>
              <a:t>ö</a:t>
            </a:r>
            <a:r>
              <a:rPr lang="en-US" altLang="tr-TR"/>
              <a:t>ylece tek bir disk I/O i</a:t>
            </a:r>
            <a:r>
              <a:rPr lang="" altLang="en-US"/>
              <a:t>ş</a:t>
            </a:r>
            <a:r>
              <a:rPr lang="en-US" altLang="tr-TR"/>
              <a:t>leminde y</a:t>
            </a:r>
            <a:r>
              <a:rPr lang="en-US" altLang="en-US"/>
              <a:t>ü</a:t>
            </a:r>
            <a:r>
              <a:rPr lang="en-US" altLang="tr-TR"/>
              <a:t>zlerce dallanma alternatifi belle</a:t>
            </a:r>
            <a:r>
              <a:rPr lang="" altLang="en-US"/>
              <a:t>ğ</a:t>
            </a:r>
            <a:r>
              <a:rPr lang="en-US" altLang="tr-TR"/>
              <a:t>e y</a:t>
            </a:r>
            <a:r>
              <a:rPr lang="en-US" altLang="en-US"/>
              <a:t>ü</a:t>
            </a:r>
            <a:r>
              <a:rPr lang="en-US" altLang="tr-TR"/>
              <a:t>klenmi</a:t>
            </a:r>
            <a:r>
              <a:rPr lang="" altLang="en-US"/>
              <a:t>ş </a:t>
            </a:r>
            <a:r>
              <a:rPr lang="en-US" altLang="tr-TR"/>
              <a:t>olur.</a:t>
            </a:r>
            <a:endParaRPr lang="en-US" altLang="tr-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tr-TR" altLang="en-US"/>
              <a:t>Hastane Arşivi Örneği</a:t>
            </a:r>
            <a:br>
              <a:rPr lang="tr-TR" altLang="en-US"/>
            </a:br>
            <a:r>
              <a:rPr lang="tr-TR" altLang="en-US"/>
              <a:t>B Ağacı:</a:t>
            </a:r>
            <a:endParaRPr lang="tr-TR" altLang="en-US"/>
          </a:p>
        </p:txBody>
      </p:sp>
      <p:sp>
        <p:nvSpPr>
          <p:cNvPr id="3" name="İçerik Yer Tutuc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en-US" altLang="tr-TR" sz="1800"/>
              <a:t>B-Tree sisteminde ar</a:t>
            </a:r>
            <a:r>
              <a:rPr lang="" altLang="en-US" sz="1800"/>
              <a:t>ş</a:t>
            </a:r>
            <a:r>
              <a:rPr lang="en-US" altLang="tr-TR" sz="1800"/>
              <a:t>iv binas</a:t>
            </a:r>
            <a:r>
              <a:rPr lang="" altLang="en-US" sz="1800"/>
              <a:t>ı ç</a:t>
            </a:r>
            <a:r>
              <a:rPr lang="en-US" altLang="tr-TR" sz="1800"/>
              <a:t>ok katl</a:t>
            </a:r>
            <a:r>
              <a:rPr lang="" altLang="en-US" sz="1800"/>
              <a:t>ı</a:t>
            </a:r>
            <a:r>
              <a:rPr lang="en-US" altLang="tr-TR" sz="1800"/>
              <a:t>d</a:t>
            </a:r>
            <a:r>
              <a:rPr lang="" altLang="en-US" sz="1800"/>
              <a:t>ı</a:t>
            </a:r>
            <a:r>
              <a:rPr lang="en-US" altLang="tr-TR" sz="1800"/>
              <a:t>r. Bu binan</a:t>
            </a:r>
            <a:r>
              <a:rPr lang="" altLang="en-US" sz="1800"/>
              <a:t>ı</a:t>
            </a:r>
            <a:r>
              <a:rPr lang="en-US" altLang="tr-TR" sz="1800"/>
              <a:t>n her kat</a:t>
            </a:r>
            <a:r>
              <a:rPr lang="" altLang="en-US" sz="1800"/>
              <a:t>ı</a:t>
            </a:r>
            <a:r>
              <a:rPr lang="en-US" altLang="tr-TR" sz="1800"/>
              <a:t>nda hem "Hangi dosya i</a:t>
            </a:r>
            <a:r>
              <a:rPr lang="" altLang="en-US" sz="1800"/>
              <a:t>ç</a:t>
            </a:r>
            <a:r>
              <a:rPr lang="en-US" altLang="tr-TR" sz="1800"/>
              <a:t>in hangi kata gitmeniz gerekti</a:t>
            </a:r>
            <a:r>
              <a:rPr lang="" altLang="en-US" sz="1800"/>
              <a:t>ğ</a:t>
            </a:r>
            <a:r>
              <a:rPr lang="en-US" altLang="tr-TR" sz="1800"/>
              <a:t>ini s</a:t>
            </a:r>
            <a:r>
              <a:rPr lang="en-US" altLang="en-US" sz="1800"/>
              <a:t>ö</a:t>
            </a:r>
            <a:r>
              <a:rPr lang="en-US" altLang="tr-TR" sz="1800"/>
              <a:t>yleyen dan</a:t>
            </a:r>
            <a:r>
              <a:rPr lang="" altLang="en-US" sz="1800"/>
              <a:t>ış</a:t>
            </a:r>
            <a:r>
              <a:rPr lang="en-US" altLang="tr-TR" sz="1800"/>
              <a:t>ma masalar</a:t>
            </a:r>
            <a:r>
              <a:rPr lang="" altLang="en-US" sz="1800"/>
              <a:t>ı (</a:t>
            </a:r>
            <a:r>
              <a:rPr lang="en-US" altLang="tr-TR" sz="1800"/>
              <a:t>indeks)" hem de "Bizzat hastalar</a:t>
            </a:r>
            <a:r>
              <a:rPr lang="" altLang="en-US" sz="1800"/>
              <a:t>ı</a:t>
            </a:r>
            <a:r>
              <a:rPr lang="en-US" altLang="tr-TR" sz="1800"/>
              <a:t>n tedavi dosyalar</a:t>
            </a:r>
            <a:r>
              <a:rPr lang="" altLang="en-US" sz="1800"/>
              <a:t>ı (</a:t>
            </a:r>
            <a:r>
              <a:rPr lang="en-US" altLang="tr-TR" sz="1800"/>
              <a:t>veri)" yan yana bulunur.</a:t>
            </a:r>
            <a:endParaRPr lang="en-US" altLang="tr-TR" sz="1800"/>
          </a:p>
          <a:p>
            <a:r>
              <a:rPr lang="en-US" altLang="tr-TR" sz="1800"/>
              <a:t>Doktor, A</a:t>
            </a:r>
            <a:r>
              <a:rPr lang="tr-TR" altLang="en-US" sz="1800"/>
              <a:t>yşe</a:t>
            </a:r>
            <a:r>
              <a:rPr lang="en-US" altLang="tr-TR" sz="1800"/>
              <a:t> Y</a:t>
            </a:r>
            <a:r>
              <a:rPr lang="" altLang="en-US" sz="1800"/>
              <a:t>ı</a:t>
            </a:r>
            <a:r>
              <a:rPr lang="en-US" altLang="tr-TR" sz="1800"/>
              <a:t>lmaz isimli hastan</a:t>
            </a:r>
            <a:r>
              <a:rPr lang="" altLang="en-US" sz="1800"/>
              <a:t>ı</a:t>
            </a:r>
            <a:r>
              <a:rPr lang="en-US" altLang="tr-TR" sz="1800"/>
              <a:t>n dosyas</a:t>
            </a:r>
            <a:r>
              <a:rPr lang="" altLang="en-US" sz="1800"/>
              <a:t>ı</a:t>
            </a:r>
            <a:r>
              <a:rPr lang="en-US" altLang="tr-TR" sz="1800"/>
              <a:t>n</a:t>
            </a:r>
            <a:r>
              <a:rPr lang="" altLang="en-US" sz="1800"/>
              <a:t>ı </a:t>
            </a:r>
            <a:r>
              <a:rPr lang="en-US" altLang="tr-TR" sz="1800"/>
              <a:t>istiyor. Ar</a:t>
            </a:r>
            <a:r>
              <a:rPr lang="" altLang="en-US" sz="1800"/>
              <a:t>ş</a:t>
            </a:r>
            <a:r>
              <a:rPr lang="en-US" altLang="tr-TR" sz="1800"/>
              <a:t>iv g</a:t>
            </a:r>
            <a:r>
              <a:rPr lang="en-US" altLang="en-US" sz="1800"/>
              <a:t>ö</a:t>
            </a:r>
            <a:r>
              <a:rPr lang="en-US" altLang="tr-TR" sz="1800"/>
              <a:t>revlisi binaya girer:</a:t>
            </a:r>
            <a:endParaRPr lang="en-US" altLang="tr-TR" sz="1800"/>
          </a:p>
          <a:p>
            <a:r>
              <a:rPr lang="en-US" altLang="tr-TR" sz="1800">
                <a:solidFill>
                  <a:schemeClr val="tx2"/>
                </a:solidFill>
              </a:rPr>
              <a:t>1. Kat (K</a:t>
            </a:r>
            <a:r>
              <a:rPr lang="en-US" altLang="en-US" sz="1800">
                <a:solidFill>
                  <a:schemeClr val="tx2"/>
                </a:solidFill>
              </a:rPr>
              <a:t>ö</a:t>
            </a:r>
            <a:r>
              <a:rPr lang="en-US" altLang="tr-TR" sz="1800">
                <a:solidFill>
                  <a:schemeClr val="tx2"/>
                </a:solidFill>
              </a:rPr>
              <a:t>k D</a:t>
            </a:r>
            <a:r>
              <a:rPr lang="en-US" altLang="en-US" sz="1800">
                <a:solidFill>
                  <a:schemeClr val="tx2"/>
                </a:solidFill>
              </a:rPr>
              <a:t>ü</a:t>
            </a:r>
            <a:r>
              <a:rPr lang="" altLang="en-US" sz="1800">
                <a:solidFill>
                  <a:schemeClr val="tx2"/>
                </a:solidFill>
              </a:rPr>
              <a:t>ğ</a:t>
            </a:r>
            <a:r>
              <a:rPr lang="en-US" altLang="en-US" sz="1800">
                <a:solidFill>
                  <a:schemeClr val="tx2"/>
                </a:solidFill>
              </a:rPr>
              <a:t>ü</a:t>
            </a:r>
            <a:r>
              <a:rPr lang="en-US" altLang="tr-TR" sz="1800">
                <a:solidFill>
                  <a:schemeClr val="tx2"/>
                </a:solidFill>
              </a:rPr>
              <a:t>m):</a:t>
            </a:r>
            <a:r>
              <a:rPr lang="en-US" altLang="tr-TR" sz="1800"/>
              <a:t> Kat</a:t>
            </a:r>
            <a:r>
              <a:rPr lang="" altLang="en-US" sz="1800"/>
              <a:t>ı</a:t>
            </a:r>
            <a:r>
              <a:rPr lang="en-US" altLang="tr-TR" sz="1800"/>
              <a:t>n giri</a:t>
            </a:r>
            <a:r>
              <a:rPr lang="" altLang="en-US" sz="1800"/>
              <a:t>ş</a:t>
            </a:r>
            <a:r>
              <a:rPr lang="en-US" altLang="tr-TR" sz="1800"/>
              <a:t>indeki panoda der ki: "A-</a:t>
            </a:r>
            <a:r>
              <a:rPr lang="" altLang="en-US" sz="1800"/>
              <a:t>Ç </a:t>
            </a:r>
            <a:r>
              <a:rPr lang="en-US" altLang="tr-TR" sz="1800"/>
              <a:t>aras</a:t>
            </a:r>
            <a:r>
              <a:rPr lang="" altLang="en-US" sz="1800"/>
              <a:t>ı </a:t>
            </a:r>
            <a:r>
              <a:rPr lang="en-US" altLang="tr-TR" sz="1800"/>
              <a:t>hastalar bu katta, D-M aras</a:t>
            </a:r>
            <a:r>
              <a:rPr lang="" altLang="en-US" sz="1800"/>
              <a:t>ı </a:t>
            </a:r>
            <a:r>
              <a:rPr lang="en-US" altLang="tr-TR" sz="1800"/>
              <a:t>i</a:t>
            </a:r>
            <a:r>
              <a:rPr lang="" altLang="en-US" sz="1800"/>
              <a:t>ç</a:t>
            </a:r>
            <a:r>
              <a:rPr lang="en-US" altLang="tr-TR" sz="1800"/>
              <a:t>in 2. kata, N-Z aras</a:t>
            </a:r>
            <a:r>
              <a:rPr lang="" altLang="en-US" sz="1800"/>
              <a:t>ı </a:t>
            </a:r>
            <a:r>
              <a:rPr lang="en-US" altLang="tr-TR" sz="1800"/>
              <a:t>i</a:t>
            </a:r>
            <a:r>
              <a:rPr lang="" altLang="en-US" sz="1800"/>
              <a:t>ç</a:t>
            </a:r>
            <a:r>
              <a:rPr lang="en-US" altLang="tr-TR" sz="1800"/>
              <a:t>in 3. kata </a:t>
            </a:r>
            <a:r>
              <a:rPr lang="" altLang="en-US" sz="1800"/>
              <a:t>çı</a:t>
            </a:r>
            <a:r>
              <a:rPr lang="en-US" altLang="tr-TR" sz="1800"/>
              <a:t>k</a:t>
            </a:r>
            <a:r>
              <a:rPr lang="" altLang="en-US" sz="1800"/>
              <a:t>ı</a:t>
            </a:r>
            <a:r>
              <a:rPr lang="en-US" altLang="tr-TR" sz="1800"/>
              <a:t>n."</a:t>
            </a:r>
            <a:endParaRPr lang="en-US" altLang="tr-TR" sz="1800"/>
          </a:p>
          <a:p>
            <a:r>
              <a:rPr lang="en-US" altLang="tr-TR" sz="1800"/>
              <a:t>G</a:t>
            </a:r>
            <a:r>
              <a:rPr lang="en-US" altLang="en-US" sz="1800"/>
              <a:t>ö</a:t>
            </a:r>
            <a:r>
              <a:rPr lang="en-US" altLang="tr-TR" sz="1800"/>
              <a:t>revli panoya bakar. E</a:t>
            </a:r>
            <a:r>
              <a:rPr lang="" altLang="en-US" sz="1800"/>
              <a:t>ğ</a:t>
            </a:r>
            <a:r>
              <a:rPr lang="en-US" altLang="tr-TR" sz="1800"/>
              <a:t>er aranan hasta Ahmet Y</a:t>
            </a:r>
            <a:r>
              <a:rPr lang="" altLang="en-US" sz="1800"/>
              <a:t>ı</a:t>
            </a:r>
            <a:r>
              <a:rPr lang="en-US" altLang="tr-TR" sz="1800"/>
              <a:t>lmaz ise, </a:t>
            </a:r>
            <a:r>
              <a:rPr lang="" altLang="en-US" sz="1800"/>
              <a:t>ş</a:t>
            </a:r>
            <a:r>
              <a:rPr lang="en-US" altLang="tr-TR" sz="1800"/>
              <a:t>ansl</a:t>
            </a:r>
            <a:r>
              <a:rPr lang="" altLang="en-US" sz="1800"/>
              <a:t>ı </a:t>
            </a:r>
            <a:r>
              <a:rPr lang="en-US" altLang="tr-TR" sz="1800"/>
              <a:t>g</a:t>
            </a:r>
            <a:r>
              <a:rPr lang="en-US" altLang="en-US" sz="1800"/>
              <a:t>ü</a:t>
            </a:r>
            <a:r>
              <a:rPr lang="en-US" altLang="tr-TR" sz="1800"/>
              <a:t>nd</a:t>
            </a:r>
            <a:r>
              <a:rPr lang="en-US" altLang="en-US" sz="1800"/>
              <a:t>ü</a:t>
            </a:r>
            <a:r>
              <a:rPr lang="en-US" altLang="tr-TR" sz="1800"/>
              <a:t>r! Ahmet'in dosyas</a:t>
            </a:r>
            <a:r>
              <a:rPr lang="" altLang="en-US" sz="1800"/>
              <a:t>ı </a:t>
            </a:r>
            <a:r>
              <a:rPr lang="en-US" altLang="tr-TR" sz="1800"/>
              <a:t>tam o panonun arkas</a:t>
            </a:r>
            <a:r>
              <a:rPr lang="" altLang="en-US" sz="1800"/>
              <a:t>ı</a:t>
            </a:r>
            <a:r>
              <a:rPr lang="en-US" altLang="tr-TR" sz="1800"/>
              <a:t>ndaki raftad</a:t>
            </a:r>
            <a:r>
              <a:rPr lang="" altLang="en-US" sz="1800"/>
              <a:t>ı</a:t>
            </a:r>
            <a:r>
              <a:rPr lang="en-US" altLang="tr-TR" sz="1800"/>
              <a:t>r. Dosyay</a:t>
            </a:r>
            <a:r>
              <a:rPr lang="" altLang="en-US" sz="1800"/>
              <a:t>ı </a:t>
            </a:r>
            <a:r>
              <a:rPr lang="en-US" altLang="tr-TR" sz="1800"/>
              <a:t>al</a:t>
            </a:r>
            <a:r>
              <a:rPr lang="" altLang="en-US" sz="1800"/>
              <a:t>ı</a:t>
            </a:r>
            <a:r>
              <a:rPr lang="en-US" altLang="tr-TR" sz="1800"/>
              <a:t>r ve </a:t>
            </a:r>
            <a:r>
              <a:rPr lang="en-US" altLang="en-US" sz="1800"/>
              <a:t>ü</a:t>
            </a:r>
            <a:r>
              <a:rPr lang="en-US" altLang="tr-TR" sz="1800"/>
              <a:t>st katlara hi</a:t>
            </a:r>
            <a:r>
              <a:rPr lang="" altLang="en-US" sz="1800"/>
              <a:t>ç çı</a:t>
            </a:r>
            <a:r>
              <a:rPr lang="en-US" altLang="tr-TR" sz="1800"/>
              <a:t>kmadan i</a:t>
            </a:r>
            <a:r>
              <a:rPr lang="" altLang="en-US" sz="1800"/>
              <a:t>ş</a:t>
            </a:r>
            <a:r>
              <a:rPr lang="en-US" altLang="tr-TR" sz="1800"/>
              <a:t>ini bitirir.</a:t>
            </a:r>
            <a:endParaRPr lang="en-US" altLang="tr-TR" sz="1800"/>
          </a:p>
          <a:p>
            <a:r>
              <a:rPr lang="en-US" altLang="tr-TR" sz="1800"/>
              <a:t>E</a:t>
            </a:r>
            <a:r>
              <a:rPr lang="" altLang="en-US" sz="1800"/>
              <a:t>ğ</a:t>
            </a:r>
            <a:r>
              <a:rPr lang="en-US" altLang="tr-TR" sz="1800"/>
              <a:t>er aranan hasta Kemal </a:t>
            </a:r>
            <a:r>
              <a:rPr lang="en-US" altLang="en-US" sz="1800"/>
              <a:t>Ö</a:t>
            </a:r>
            <a:r>
              <a:rPr lang="en-US" altLang="tr-TR" sz="1800"/>
              <a:t>zt</a:t>
            </a:r>
            <a:r>
              <a:rPr lang="en-US" altLang="en-US" sz="1800"/>
              <a:t>ü</a:t>
            </a:r>
            <a:r>
              <a:rPr lang="en-US" altLang="tr-TR" sz="1800"/>
              <a:t>rk ise, g</a:t>
            </a:r>
            <a:r>
              <a:rPr lang="en-US" altLang="en-US" sz="1800"/>
              <a:t>ö</a:t>
            </a:r>
            <a:r>
              <a:rPr lang="en-US" altLang="tr-TR" sz="1800"/>
              <a:t>revli 1. kattaki y</a:t>
            </a:r>
            <a:r>
              <a:rPr lang="en-US" altLang="en-US" sz="1800"/>
              <a:t>ö</a:t>
            </a:r>
            <a:r>
              <a:rPr lang="en-US" altLang="tr-TR" sz="1800"/>
              <a:t>nlendirmeye bakarak "D-M aras</a:t>
            </a:r>
            <a:r>
              <a:rPr lang="" altLang="en-US" sz="1800"/>
              <a:t>ı" </a:t>
            </a:r>
            <a:r>
              <a:rPr lang="en-US" altLang="tr-TR" sz="1800"/>
              <a:t>y</a:t>
            </a:r>
            <a:r>
              <a:rPr lang="en-US" altLang="en-US" sz="1800"/>
              <a:t>ö</a:t>
            </a:r>
            <a:r>
              <a:rPr lang="en-US" altLang="tr-TR" sz="1800"/>
              <a:t>nergesini takip eder ve 2. kata </a:t>
            </a:r>
            <a:r>
              <a:rPr lang="" altLang="en-US" sz="1800"/>
              <a:t>çı</a:t>
            </a:r>
            <a:r>
              <a:rPr lang="en-US" altLang="tr-TR" sz="1800"/>
              <a:t>kar. 2. kata geldi</a:t>
            </a:r>
            <a:r>
              <a:rPr lang="" altLang="en-US" sz="1800"/>
              <a:t>ğ</a:t>
            </a:r>
            <a:r>
              <a:rPr lang="en-US" altLang="tr-TR" sz="1800"/>
              <a:t>inde yine baz</a:t>
            </a:r>
            <a:r>
              <a:rPr lang="" altLang="en-US" sz="1800"/>
              <a:t>ı </a:t>
            </a:r>
            <a:r>
              <a:rPr lang="en-US" altLang="tr-TR" sz="1800"/>
              <a:t>dosyalar</a:t>
            </a:r>
            <a:r>
              <a:rPr lang="" altLang="en-US" sz="1800"/>
              <a:t>ı </a:t>
            </a:r>
            <a:r>
              <a:rPr lang="en-US" altLang="tr-TR" sz="1800"/>
              <a:t>ve daha detayl</a:t>
            </a:r>
            <a:r>
              <a:rPr lang="" altLang="en-US" sz="1800"/>
              <a:t>ı </a:t>
            </a:r>
            <a:r>
              <a:rPr lang="en-US" altLang="tr-TR" sz="1800"/>
              <a:t>y</a:t>
            </a:r>
            <a:r>
              <a:rPr lang="en-US" altLang="en-US" sz="1800"/>
              <a:t>ö</a:t>
            </a:r>
            <a:r>
              <a:rPr lang="en-US" altLang="tr-TR" sz="1800"/>
              <a:t>nlendirmeleri bir arada bulur.</a:t>
            </a:r>
            <a:endParaRPr lang="en-US" altLang="tr-TR" sz="1800"/>
          </a:p>
          <a:p>
            <a:r>
              <a:rPr lang="en-US" altLang="tr-TR" sz="1800">
                <a:solidFill>
                  <a:schemeClr val="tx2"/>
                </a:solidFill>
              </a:rPr>
              <a:t>B-Tree </a:t>
            </a:r>
            <a:r>
              <a:rPr lang="en-US" altLang="en-US" sz="1800">
                <a:solidFill>
                  <a:schemeClr val="tx2"/>
                </a:solidFill>
              </a:rPr>
              <a:t>Ö</a:t>
            </a:r>
            <a:r>
              <a:rPr lang="en-US" altLang="tr-TR" sz="1800">
                <a:solidFill>
                  <a:schemeClr val="tx2"/>
                </a:solidFill>
              </a:rPr>
              <a:t>zeti:</a:t>
            </a:r>
            <a:r>
              <a:rPr lang="en-US" altLang="tr-TR" sz="1800"/>
              <a:t> Arad</a:t>
            </a:r>
            <a:r>
              <a:rPr lang="" altLang="en-US" sz="1800"/>
              <a:t>ığı</a:t>
            </a:r>
            <a:r>
              <a:rPr lang="en-US" altLang="tr-TR" sz="1800"/>
              <a:t>n</a:t>
            </a:r>
            <a:r>
              <a:rPr lang="" altLang="en-US" sz="1800"/>
              <a:t>ı</a:t>
            </a:r>
            <a:r>
              <a:rPr lang="en-US" altLang="tr-TR" sz="1800"/>
              <a:t>z hasta dosyas</a:t>
            </a:r>
            <a:r>
              <a:rPr lang="" altLang="en-US" sz="1800"/>
              <a:t>ı </a:t>
            </a:r>
            <a:r>
              <a:rPr lang="en-US" altLang="en-US" sz="1800"/>
              <a:t>ü</a:t>
            </a:r>
            <a:r>
              <a:rPr lang="en-US" altLang="tr-TR" sz="1800"/>
              <a:t>st katlarda veya ara katlarda kar</a:t>
            </a:r>
            <a:r>
              <a:rPr lang="" altLang="en-US" sz="1800"/>
              <a:t>şı</a:t>
            </a:r>
            <a:r>
              <a:rPr lang="en-US" altLang="tr-TR" sz="1800"/>
              <a:t>n</a:t>
            </a:r>
            <a:r>
              <a:rPr lang="" altLang="en-US" sz="1800"/>
              <a:t>ı</a:t>
            </a:r>
            <a:r>
              <a:rPr lang="en-US" altLang="tr-TR" sz="1800"/>
              <a:t>za </a:t>
            </a:r>
            <a:r>
              <a:rPr lang="" altLang="en-US" sz="1800"/>
              <a:t>çı</a:t>
            </a:r>
            <a:r>
              <a:rPr lang="en-US" altLang="tr-TR" sz="1800"/>
              <a:t>kabilir. Buldu</a:t>
            </a:r>
            <a:r>
              <a:rPr lang="" altLang="en-US" sz="1800"/>
              <a:t>ğ</a:t>
            </a:r>
            <a:r>
              <a:rPr lang="en-US" altLang="tr-TR" sz="1800"/>
              <a:t>unuz anda i</a:t>
            </a:r>
            <a:r>
              <a:rPr lang="" altLang="en-US" sz="1800"/>
              <a:t>ş</a:t>
            </a:r>
            <a:r>
              <a:rPr lang="en-US" altLang="tr-TR" sz="1800"/>
              <a:t>lem biter.</a:t>
            </a:r>
            <a:endParaRPr lang="en-US" altLang="tr-TR"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tr-TR" altLang="en-US"/>
              <a:t>Hastane Arşiv Örneği</a:t>
            </a:r>
            <a:br>
              <a:rPr lang="tr-TR" altLang="en-US"/>
            </a:br>
            <a:r>
              <a:rPr lang="tr-TR" altLang="en-US"/>
              <a:t>B+ ağacı:</a:t>
            </a:r>
            <a:endParaRPr lang="tr-TR" altLang="en-US"/>
          </a:p>
        </p:txBody>
      </p:sp>
      <p:sp>
        <p:nvSpPr>
          <p:cNvPr id="3" name="İçerik Yer Tutucu 2"/>
          <p:cNvSpPr>
            <a:spLocks noGrp="1"/>
          </p:cNvSpPr>
          <p:nvPr>
            <p:ph idx="1"/>
          </p:nvPr>
        </p:nvSpPr>
        <p:spPr>
          <a:xfrm>
            <a:off x="472440" y="1567180"/>
            <a:ext cx="11000740" cy="4648835"/>
          </a:xfrm>
        </p:spPr>
        <p:txBody>
          <a:bodyPr>
            <a:noAutofit/>
          </a:bodyPr>
          <a:p>
            <a:r>
              <a:rPr lang="en-US" altLang="tr-TR" sz="2400"/>
              <a:t>Modern veri tabanlar</a:t>
            </a:r>
            <a:r>
              <a:rPr lang="" altLang="en-US" sz="2400"/>
              <a:t>ı</a:t>
            </a:r>
            <a:r>
              <a:rPr lang="en-US" altLang="tr-TR" sz="2400"/>
              <a:t>n</a:t>
            </a:r>
            <a:r>
              <a:rPr lang="" altLang="en-US" sz="2400"/>
              <a:t>ı</a:t>
            </a:r>
            <a:r>
              <a:rPr lang="en-US" altLang="tr-TR" sz="2400"/>
              <a:t>n kulland</a:t>
            </a:r>
            <a:r>
              <a:rPr lang="" altLang="en-US" sz="2400"/>
              <a:t>ığı </a:t>
            </a:r>
            <a:r>
              <a:rPr lang="en-US" altLang="tr-TR" sz="2400"/>
              <a:t>B+ Tree sisteminde ise kurallar nettir: </a:t>
            </a:r>
            <a:r>
              <a:rPr lang="" altLang="en-US" sz="2400"/>
              <a:t>Ü</a:t>
            </a:r>
            <a:r>
              <a:rPr lang="en-US" altLang="tr-TR" sz="2400"/>
              <a:t>st katlarda asla tek bir hastan</a:t>
            </a:r>
            <a:r>
              <a:rPr lang="" altLang="en-US" sz="2400"/>
              <a:t>ı</a:t>
            </a:r>
            <a:r>
              <a:rPr lang="en-US" altLang="tr-TR" sz="2400"/>
              <a:t>n bile dosyas</a:t>
            </a:r>
            <a:r>
              <a:rPr lang="" altLang="en-US" sz="2400"/>
              <a:t>ı (</a:t>
            </a:r>
            <a:r>
              <a:rPr lang="en-US" altLang="tr-TR" sz="2400"/>
              <a:t>verisi) bulunmaz. </a:t>
            </a:r>
            <a:r>
              <a:rPr lang="" altLang="en-US" sz="2400"/>
              <a:t>Ü</a:t>
            </a:r>
            <a:r>
              <a:rPr lang="en-US" altLang="tr-TR" sz="2400"/>
              <a:t>st katlar sadece ve sadece devasa birer y</a:t>
            </a:r>
            <a:r>
              <a:rPr lang="en-US" altLang="en-US" sz="2400"/>
              <a:t>ö</a:t>
            </a:r>
            <a:r>
              <a:rPr lang="en-US" altLang="tr-TR" sz="2400"/>
              <a:t>nlendirme tabelas</a:t>
            </a:r>
            <a:r>
              <a:rPr lang="" altLang="en-US" sz="2400"/>
              <a:t>ı</a:t>
            </a:r>
            <a:r>
              <a:rPr lang="en-US" altLang="tr-TR" sz="2400"/>
              <a:t>d</a:t>
            </a:r>
            <a:r>
              <a:rPr lang="" altLang="en-US" sz="2400"/>
              <a:t>ı</a:t>
            </a:r>
            <a:r>
              <a:rPr lang="en-US" altLang="tr-TR" sz="2400"/>
              <a:t>r. B</a:t>
            </a:r>
            <a:r>
              <a:rPr lang="en-US" altLang="en-US" sz="2400"/>
              <a:t>ü</a:t>
            </a:r>
            <a:r>
              <a:rPr lang="en-US" altLang="tr-TR" sz="2400"/>
              <a:t>t</a:t>
            </a:r>
            <a:r>
              <a:rPr lang="en-US" altLang="en-US" sz="2400"/>
              <a:t>ü</a:t>
            </a:r>
            <a:r>
              <a:rPr lang="en-US" altLang="tr-TR" sz="2400"/>
              <a:t>n hastalar</a:t>
            </a:r>
            <a:r>
              <a:rPr lang="" altLang="en-US" sz="2400"/>
              <a:t>ı</a:t>
            </a:r>
            <a:r>
              <a:rPr lang="en-US" altLang="tr-TR" sz="2400"/>
              <a:t>n dosyalar</a:t>
            </a:r>
            <a:r>
              <a:rPr lang="" altLang="en-US" sz="2400"/>
              <a:t>ı </a:t>
            </a:r>
            <a:r>
              <a:rPr lang="en-US" altLang="tr-TR" sz="2400"/>
              <a:t>istisnas</a:t>
            </a:r>
            <a:r>
              <a:rPr lang="" altLang="en-US" sz="2400"/>
              <a:t>ı</a:t>
            </a:r>
            <a:r>
              <a:rPr lang="en-US" altLang="tr-TR" sz="2400"/>
              <a:t>z en alt katta (zemin katta) yan yana dizilmi</a:t>
            </a:r>
            <a:r>
              <a:rPr lang="" altLang="en-US" sz="2400"/>
              <a:t>ş</a:t>
            </a:r>
            <a:r>
              <a:rPr lang="en-US" altLang="tr-TR" sz="2400"/>
              <a:t>tir.</a:t>
            </a:r>
            <a:endParaRPr lang="en-US" altLang="tr-TR" sz="2400"/>
          </a:p>
          <a:p>
            <a:r>
              <a:rPr lang="en-US" altLang="tr-TR" sz="2400"/>
              <a:t>Doktor yine bir hasta dosyas</a:t>
            </a:r>
            <a:r>
              <a:rPr lang="" altLang="en-US" sz="2400"/>
              <a:t>ı </a:t>
            </a:r>
            <a:r>
              <a:rPr lang="en-US" altLang="tr-TR" sz="2400"/>
              <a:t>istiyor. G</a:t>
            </a:r>
            <a:r>
              <a:rPr lang="en-US" altLang="en-US" sz="2400"/>
              <a:t>ö</a:t>
            </a:r>
            <a:r>
              <a:rPr lang="en-US" altLang="tr-TR" sz="2400"/>
              <a:t>revli ar</a:t>
            </a:r>
            <a:r>
              <a:rPr lang="" altLang="en-US" sz="2400"/>
              <a:t>ş</a:t>
            </a:r>
            <a:r>
              <a:rPr lang="en-US" altLang="tr-TR" sz="2400"/>
              <a:t>ive girer:</a:t>
            </a:r>
            <a:endParaRPr lang="en-US" altLang="tr-TR" sz="2400"/>
          </a:p>
          <a:p>
            <a:endParaRPr lang="en-US" altLang="tr-TR" sz="2400"/>
          </a:p>
          <a:p>
            <a:r>
              <a:rPr lang="" altLang="en-US" sz="2400"/>
              <a:t>Ü</a:t>
            </a:r>
            <a:r>
              <a:rPr lang="en-US" altLang="tr-TR" sz="2400"/>
              <a:t>st Katlar (Sadece </a:t>
            </a:r>
            <a:r>
              <a:rPr lang="" altLang="en-US" sz="2400"/>
              <a:t>İ</a:t>
            </a:r>
            <a:r>
              <a:rPr lang="en-US" altLang="tr-TR" sz="2400"/>
              <a:t>ndeks): Giri</a:t>
            </a:r>
            <a:r>
              <a:rPr lang="" altLang="en-US" sz="2400"/>
              <a:t>ş</a:t>
            </a:r>
            <a:r>
              <a:rPr lang="en-US" altLang="tr-TR" sz="2400"/>
              <a:t>te ve </a:t>
            </a:r>
            <a:r>
              <a:rPr lang="en-US" altLang="en-US" sz="2400"/>
              <a:t>ü</a:t>
            </a:r>
            <a:r>
              <a:rPr lang="en-US" altLang="tr-TR" sz="2400"/>
              <a:t>st katlarda sadece rehber memurlar veya tabelalar vard</a:t>
            </a:r>
            <a:r>
              <a:rPr lang="" altLang="en-US" sz="2400"/>
              <a:t>ı</a:t>
            </a:r>
            <a:r>
              <a:rPr lang="en-US" altLang="tr-TR" sz="2400"/>
              <a:t>r. Tabelada "A-K aras</a:t>
            </a:r>
            <a:r>
              <a:rPr lang="" altLang="en-US" sz="2400"/>
              <a:t>ı </a:t>
            </a:r>
            <a:r>
              <a:rPr lang="en-US" altLang="tr-TR" sz="2400"/>
              <a:t>hastalar i</a:t>
            </a:r>
            <a:r>
              <a:rPr lang="" altLang="en-US" sz="2400"/>
              <a:t>ç</a:t>
            </a:r>
            <a:r>
              <a:rPr lang="en-US" altLang="tr-TR" sz="2400"/>
              <a:t>in sol koridora, L-Z aras</a:t>
            </a:r>
            <a:r>
              <a:rPr lang="" altLang="en-US" sz="2400"/>
              <a:t>ı </a:t>
            </a:r>
            <a:r>
              <a:rPr lang="en-US" altLang="tr-TR" sz="2400"/>
              <a:t>i</a:t>
            </a:r>
            <a:r>
              <a:rPr lang="" altLang="en-US" sz="2400"/>
              <a:t>ç</a:t>
            </a:r>
            <a:r>
              <a:rPr lang="en-US" altLang="tr-TR" sz="2400"/>
              <a:t>in sa</a:t>
            </a:r>
            <a:r>
              <a:rPr lang="" altLang="en-US" sz="2400"/>
              <a:t>ğ </a:t>
            </a:r>
            <a:r>
              <a:rPr lang="en-US" altLang="tr-TR" sz="2400"/>
              <a:t>koridora gidin" yazar. Bu katlardaki raflar tamamen bo</a:t>
            </a:r>
            <a:r>
              <a:rPr lang="" altLang="en-US" sz="2400"/>
              <a:t>ş</a:t>
            </a:r>
            <a:r>
              <a:rPr lang="en-US" altLang="tr-TR" sz="2400"/>
              <a:t>tur, sadece y</a:t>
            </a:r>
            <a:r>
              <a:rPr lang="en-US" altLang="en-US" sz="2400"/>
              <a:t>ö</a:t>
            </a:r>
            <a:r>
              <a:rPr lang="en-US" altLang="tr-TR" sz="2400"/>
              <a:t>n tabelalar</a:t>
            </a:r>
            <a:r>
              <a:rPr lang="" altLang="en-US" sz="2400"/>
              <a:t>ı </a:t>
            </a:r>
            <a:r>
              <a:rPr lang="en-US" altLang="tr-TR" sz="2400"/>
              <a:t>bar</a:t>
            </a:r>
            <a:r>
              <a:rPr lang="" altLang="en-US" sz="2400"/>
              <a:t>ı</a:t>
            </a:r>
            <a:r>
              <a:rPr lang="en-US" altLang="tr-TR" sz="2400"/>
              <a:t>nd</a:t>
            </a:r>
            <a:r>
              <a:rPr lang="" altLang="en-US" sz="2400"/>
              <a:t>ı</a:t>
            </a:r>
            <a:r>
              <a:rPr lang="en-US" altLang="tr-TR" sz="2400"/>
              <a:t>r</a:t>
            </a:r>
            <a:r>
              <a:rPr lang="" altLang="en-US" sz="2400"/>
              <a:t>ı</a:t>
            </a:r>
            <a:r>
              <a:rPr lang="en-US" altLang="tr-TR" sz="2400"/>
              <a:t>rlar. Hi</a:t>
            </a:r>
            <a:r>
              <a:rPr lang="" altLang="en-US" sz="2400"/>
              <a:t>ç</a:t>
            </a:r>
            <a:r>
              <a:rPr lang="en-US" altLang="tr-TR" sz="2400"/>
              <a:t>bir hastan</a:t>
            </a:r>
            <a:r>
              <a:rPr lang="" altLang="en-US" sz="2400"/>
              <a:t>ı</a:t>
            </a:r>
            <a:r>
              <a:rPr lang="en-US" altLang="tr-TR" sz="2400"/>
              <a:t>n dosyas</a:t>
            </a:r>
            <a:r>
              <a:rPr lang="" altLang="en-US" sz="2400"/>
              <a:t>ı </a:t>
            </a:r>
            <a:r>
              <a:rPr lang="en-US" altLang="tr-TR" sz="2400"/>
              <a:t>burada saklanmaz.</a:t>
            </a:r>
            <a:endParaRPr lang="en-US" altLang="tr-TR" sz="2400"/>
          </a:p>
          <a:p>
            <a:endParaRPr lang="en-US" altLang="tr-TR" sz="2400"/>
          </a:p>
          <a:p>
            <a:r>
              <a:rPr lang="en-US" altLang="tr-TR" sz="2400"/>
              <a:t>En Alt Kat (T</a:t>
            </a:r>
            <a:r>
              <a:rPr lang="en-US" altLang="en-US" sz="2400"/>
              <a:t>ü</a:t>
            </a:r>
            <a:r>
              <a:rPr lang="en-US" altLang="tr-TR" sz="2400"/>
              <a:t>m Dosyalar Burada): G</a:t>
            </a:r>
            <a:r>
              <a:rPr lang="en-US" altLang="en-US" sz="2400"/>
              <a:t>ö</a:t>
            </a:r>
            <a:r>
              <a:rPr lang="en-US" altLang="tr-TR" sz="2400"/>
              <a:t>revli tabelalar</a:t>
            </a:r>
            <a:r>
              <a:rPr lang="" altLang="en-US" sz="2400"/>
              <a:t>ı </a:t>
            </a:r>
            <a:r>
              <a:rPr lang="en-US" altLang="tr-TR" sz="2400"/>
              <a:t>takip ederek en alt kata, yani ana depo salonuna iner. Milyonlarca hastan</a:t>
            </a:r>
            <a:r>
              <a:rPr lang="" altLang="en-US" sz="2400"/>
              <a:t>ı</a:t>
            </a:r>
            <a:r>
              <a:rPr lang="en-US" altLang="tr-TR" sz="2400"/>
              <a:t>n dosyas</a:t>
            </a:r>
            <a:r>
              <a:rPr lang="" altLang="en-US" sz="2400"/>
              <a:t>ı </a:t>
            </a:r>
            <a:r>
              <a:rPr lang="en-US" altLang="tr-TR" sz="2400"/>
              <a:t>alfabetik s</a:t>
            </a:r>
            <a:r>
              <a:rPr lang="" altLang="en-US" sz="2400"/>
              <a:t>ı</a:t>
            </a:r>
            <a:r>
              <a:rPr lang="en-US" altLang="tr-TR" sz="2400"/>
              <a:t>rayla yan yana bu salondad</a:t>
            </a:r>
            <a:r>
              <a:rPr lang="" altLang="en-US" sz="2400"/>
              <a:t>ı</a:t>
            </a:r>
            <a:r>
              <a:rPr lang="en-US" altLang="tr-TR" sz="2400"/>
              <a:t>r.</a:t>
            </a:r>
            <a:endParaRPr lang="en-US" altLang="tr-TR" sz="2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tr-TR"/>
              <a:t>Hastane Ar</a:t>
            </a:r>
            <a:r>
              <a:rPr lang="" altLang="en-US"/>
              <a:t>ş</a:t>
            </a:r>
            <a:r>
              <a:rPr lang="en-US" altLang="tr-TR"/>
              <a:t>ivcisi G</a:t>
            </a:r>
            <a:r>
              <a:rPr lang="en-US" altLang="en-US"/>
              <a:t>ö</a:t>
            </a:r>
            <a:r>
              <a:rPr lang="en-US" altLang="tr-TR"/>
              <a:t>z</a:t>
            </a:r>
            <a:r>
              <a:rPr lang="en-US" altLang="en-US"/>
              <a:t>ü</a:t>
            </a:r>
            <a:r>
              <a:rPr lang="en-US" altLang="tr-TR"/>
              <a:t>nden </a:t>
            </a:r>
            <a:r>
              <a:rPr lang="en-US" altLang="en-US"/>
              <a:t>Ö</a:t>
            </a:r>
            <a:r>
              <a:rPr lang="en-US" altLang="tr-TR"/>
              <a:t>zet Farklar</a:t>
            </a:r>
            <a:endParaRPr lang="en-US" altLang="tr-TR"/>
          </a:p>
        </p:txBody>
      </p:sp>
      <p:graphicFrame>
        <p:nvGraphicFramePr>
          <p:cNvPr id="5" name="İçerik Yer Tutucu 4"/>
          <p:cNvGraphicFramePr/>
          <p:nvPr>
            <p:ph idx="1"/>
          </p:nvPr>
        </p:nvGraphicFramePr>
        <p:xfrm>
          <a:off x="196215" y="1475105"/>
          <a:ext cx="11767185" cy="5118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2395"/>
                <a:gridCol w="3922395"/>
                <a:gridCol w="3922395"/>
              </a:tblGrid>
              <a:tr h="127952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tr-TR" altLang="en-US"/>
                        <a:t>ÖZELLİK</a:t>
                      </a:r>
                      <a:endParaRPr lang="tr-TR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tr-TR"/>
                        <a:t>B-Tree Ar</a:t>
                      </a:r>
                      <a:r>
                        <a:rPr lang="" altLang="en-US"/>
                        <a:t>ş</a:t>
                      </a:r>
                      <a:r>
                        <a:rPr lang="en-US" altLang="tr-TR"/>
                        <a:t>ivi</a:t>
                      </a:r>
                      <a:endParaRPr lang="en-US" altLang="tr-TR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tr-TR"/>
                        <a:t>B+ Tree Ar</a:t>
                      </a:r>
                      <a:r>
                        <a:rPr lang="" altLang="en-US"/>
                        <a:t>ş</a:t>
                      </a:r>
                      <a:r>
                        <a:rPr lang="en-US" altLang="tr-TR"/>
                        <a:t>ivi</a:t>
                      </a:r>
                      <a:endParaRPr lang="en-US" altLang="tr-TR"/>
                    </a:p>
                  </a:txBody>
                  <a:tcPr anchor="ctr" anchorCtr="0"/>
                </a:tc>
              </a:tr>
              <a:tr h="1279525">
                <a:tc>
                  <a:txBody>
                    <a:bodyPr/>
                    <a:p>
                      <a:pPr>
                        <a:buNone/>
                      </a:pPr>
                      <a:endParaRPr lang="en-US" altLang="tr-TR"/>
                    </a:p>
                    <a:p>
                      <a:pPr>
                        <a:buNone/>
                      </a:pPr>
                      <a:r>
                        <a:rPr lang="en-US" altLang="tr-TR" sz="200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Dosyalar (Veri) Nerede?</a:t>
                      </a:r>
                      <a:endParaRPr lang="en-US" altLang="tr-TR" sz="2000">
                        <a:solidFill>
                          <a:schemeClr val="accent4">
                            <a:lumMod val="75000"/>
                          </a:schemeClr>
                        </a:solidFill>
                      </a:endParaRPr>
                    </a:p>
                  </a:txBody>
                  <a:tcPr anchor="t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tr-TR"/>
                        <a:t>Her katta (giri</a:t>
                      </a:r>
                      <a:r>
                        <a:rPr lang="" altLang="en-US"/>
                        <a:t>ş</a:t>
                      </a:r>
                      <a:r>
                        <a:rPr lang="en-US" altLang="tr-TR"/>
                        <a:t>te, ortada veya en altta) bulunabilir.</a:t>
                      </a:r>
                      <a:endParaRPr lang="en-US" altLang="tr-TR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tr-TR"/>
                        <a:t>Sadece ve sadece en alt katta bulunur. </a:t>
                      </a:r>
                      <a:r>
                        <a:rPr lang="" altLang="en-US"/>
                        <a:t>Ü</a:t>
                      </a:r>
                      <a:r>
                        <a:rPr lang="en-US" altLang="tr-TR"/>
                        <a:t>st katlar bo</a:t>
                      </a:r>
                      <a:r>
                        <a:rPr lang="" altLang="en-US"/>
                        <a:t>ş</a:t>
                      </a:r>
                      <a:r>
                        <a:rPr lang="en-US" altLang="tr-TR"/>
                        <a:t>tur, sadece tabelad</a:t>
                      </a:r>
                      <a:r>
                        <a:rPr lang="" altLang="en-US"/>
                        <a:t>ı</a:t>
                      </a:r>
                      <a:r>
                        <a:rPr lang="en-US" altLang="tr-TR"/>
                        <a:t>r.</a:t>
                      </a:r>
                      <a:endParaRPr lang="en-US" altLang="tr-TR"/>
                    </a:p>
                  </a:txBody>
                  <a:tcPr/>
                </a:tc>
              </a:tr>
              <a:tr h="1279525">
                <a:tc>
                  <a:txBody>
                    <a:bodyPr/>
                    <a:p>
                      <a:pPr>
                        <a:buNone/>
                      </a:pPr>
                      <a:endParaRPr lang="en-US" altLang="tr-TR" sz="2000"/>
                    </a:p>
                    <a:p>
                      <a:pPr>
                        <a:buNone/>
                      </a:pPr>
                      <a:r>
                        <a:rPr lang="en-US" altLang="tr-TR" sz="200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Tek Bir Hasta Aramak</a:t>
                      </a:r>
                      <a:endParaRPr lang="en-US" altLang="tr-TR" sz="2000">
                        <a:solidFill>
                          <a:schemeClr val="accent4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" altLang="en-US"/>
                        <a:t>Ş</a:t>
                      </a:r>
                      <a:r>
                        <a:rPr lang="en-US" altLang="tr-TR"/>
                        <a:t>ansl</a:t>
                      </a:r>
                      <a:r>
                        <a:rPr lang="" altLang="en-US"/>
                        <a:t>ı</a:t>
                      </a:r>
                      <a:r>
                        <a:rPr lang="en-US" altLang="tr-TR"/>
                        <a:t>ysan</a:t>
                      </a:r>
                      <a:r>
                        <a:rPr lang="" altLang="en-US"/>
                        <a:t>ı</a:t>
                      </a:r>
                      <a:r>
                        <a:rPr lang="en-US" altLang="tr-TR"/>
                        <a:t>z ilk katta bulursunuz, arama </a:t>
                      </a:r>
                      <a:r>
                        <a:rPr lang="" altLang="en-US"/>
                        <a:t>ç</a:t>
                      </a:r>
                      <a:r>
                        <a:rPr lang="en-US" altLang="tr-TR"/>
                        <a:t>ok h</a:t>
                      </a:r>
                      <a:r>
                        <a:rPr lang="" altLang="en-US"/>
                        <a:t>ı</a:t>
                      </a:r>
                      <a:r>
                        <a:rPr lang="en-US" altLang="tr-TR"/>
                        <a:t>zl</a:t>
                      </a:r>
                      <a:r>
                        <a:rPr lang="" altLang="en-US"/>
                        <a:t>ı </a:t>
                      </a:r>
                      <a:r>
                        <a:rPr lang="en-US" altLang="tr-TR"/>
                        <a:t>biter.</a:t>
                      </a:r>
                      <a:endParaRPr lang="en-US" altLang="tr-TR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tr-TR"/>
                        <a:t>Dosya en ba</a:t>
                      </a:r>
                      <a:r>
                        <a:rPr lang="" altLang="en-US"/>
                        <a:t>ş</a:t>
                      </a:r>
                      <a:r>
                        <a:rPr lang="en-US" altLang="tr-TR"/>
                        <a:t>ta bile olsa, do</a:t>
                      </a:r>
                      <a:r>
                        <a:rPr lang="" altLang="en-US"/>
                        <a:t>ğ</a:t>
                      </a:r>
                      <a:r>
                        <a:rPr lang="en-US" altLang="tr-TR"/>
                        <a:t>rulamak i</a:t>
                      </a:r>
                      <a:r>
                        <a:rPr lang="" altLang="en-US"/>
                        <a:t>ç</a:t>
                      </a:r>
                      <a:r>
                        <a:rPr lang="en-US" altLang="tr-TR"/>
                        <a:t>in mutlaka en alt kata inmeniz gerekir. (S</a:t>
                      </a:r>
                      <a:r>
                        <a:rPr lang="en-US" altLang="en-US"/>
                        <a:t>ü</a:t>
                      </a:r>
                      <a:r>
                        <a:rPr lang="en-US" altLang="tr-TR"/>
                        <a:t>re hep sabittir).</a:t>
                      </a:r>
                      <a:endParaRPr lang="en-US" altLang="tr-TR"/>
                    </a:p>
                  </a:txBody>
                  <a:tcPr/>
                </a:tc>
              </a:tr>
              <a:tr h="1279525">
                <a:tc>
                  <a:txBody>
                    <a:bodyPr/>
                    <a:p>
                      <a:pPr>
                        <a:buNone/>
                      </a:pPr>
                      <a:endParaRPr lang="en-US" altLang="tr-TR"/>
                    </a:p>
                    <a:p>
                      <a:pPr>
                        <a:buNone/>
                      </a:pPr>
                      <a:r>
                        <a:rPr lang="en-US" altLang="tr-TR" sz="200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Belli Bir Aral</a:t>
                      </a:r>
                      <a:r>
                        <a:rPr lang="" altLang="en-US" sz="200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ı</a:t>
                      </a:r>
                      <a:r>
                        <a:rPr lang="en-US" altLang="tr-TR" sz="200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ktaki Hastalar</a:t>
                      </a:r>
                      <a:r>
                        <a:rPr lang="" altLang="en-US" sz="200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ı </a:t>
                      </a:r>
                      <a:r>
                        <a:rPr lang="en-US" altLang="tr-TR" sz="200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Toplamak</a:t>
                      </a:r>
                      <a:endParaRPr lang="en-US" altLang="tr-TR" sz="2000">
                        <a:solidFill>
                          <a:schemeClr val="accent4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tr-TR"/>
                        <a:t>Katlar aras</a:t>
                      </a:r>
                      <a:r>
                        <a:rPr lang="" altLang="en-US"/>
                        <a:t>ı</a:t>
                      </a:r>
                      <a:r>
                        <a:rPr lang="en-US" altLang="tr-TR"/>
                        <a:t>nda s</a:t>
                      </a:r>
                      <a:r>
                        <a:rPr lang="en-US" altLang="en-US"/>
                        <a:t>ü</a:t>
                      </a:r>
                      <a:r>
                        <a:rPr lang="en-US" altLang="tr-TR"/>
                        <a:t>rekli yukar</a:t>
                      </a:r>
                      <a:r>
                        <a:rPr lang="" altLang="en-US"/>
                        <a:t>ı-</a:t>
                      </a:r>
                      <a:r>
                        <a:rPr lang="en-US" altLang="tr-TR"/>
                        <a:t>a</a:t>
                      </a:r>
                      <a:r>
                        <a:rPr lang="" altLang="en-US"/>
                        <a:t>ş</a:t>
                      </a:r>
                      <a:r>
                        <a:rPr lang="en-US" altLang="tr-TR"/>
                        <a:t>a</a:t>
                      </a:r>
                      <a:r>
                        <a:rPr lang="" altLang="en-US"/>
                        <a:t>ğı </a:t>
                      </a:r>
                      <a:r>
                        <a:rPr lang="en-US" altLang="tr-TR"/>
                        <a:t>mekik dokursunuz (Yava</a:t>
                      </a:r>
                      <a:r>
                        <a:rPr lang="" altLang="en-US"/>
                        <a:t>ş </a:t>
                      </a:r>
                      <a:r>
                        <a:rPr lang="en-US" altLang="tr-TR"/>
                        <a:t>ve yorucu).</a:t>
                      </a:r>
                      <a:endParaRPr lang="en-US" altLang="tr-TR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tr-TR"/>
                        <a:t>En alt kata bir kez inip, raflar boyunca yan yana y</a:t>
                      </a:r>
                      <a:r>
                        <a:rPr lang="en-US" altLang="en-US"/>
                        <a:t>ü</a:t>
                      </a:r>
                      <a:r>
                        <a:rPr lang="en-US" altLang="tr-TR"/>
                        <a:t>r</a:t>
                      </a:r>
                      <a:r>
                        <a:rPr lang="en-US" altLang="en-US"/>
                        <a:t>ü</a:t>
                      </a:r>
                      <a:r>
                        <a:rPr lang="en-US" altLang="tr-TR"/>
                        <a:t>yerek t</a:t>
                      </a:r>
                      <a:r>
                        <a:rPr lang="en-US" altLang="en-US"/>
                        <a:t>ü</a:t>
                      </a:r>
                      <a:r>
                        <a:rPr lang="en-US" altLang="tr-TR"/>
                        <a:t>m dosyalar</a:t>
                      </a:r>
                      <a:r>
                        <a:rPr lang="" altLang="en-US"/>
                        <a:t>ı </a:t>
                      </a:r>
                      <a:r>
                        <a:rPr lang="en-US" altLang="tr-TR"/>
                        <a:t>h</a:t>
                      </a:r>
                      <a:r>
                        <a:rPr lang="" altLang="en-US"/>
                        <a:t>ı</a:t>
                      </a:r>
                      <a:r>
                        <a:rPr lang="en-US" altLang="tr-TR"/>
                        <a:t>zla toplars</a:t>
                      </a:r>
                      <a:r>
                        <a:rPr lang="" altLang="en-US"/>
                        <a:t>ı</a:t>
                      </a:r>
                      <a:r>
                        <a:rPr lang="en-US" altLang="tr-TR"/>
                        <a:t>n</a:t>
                      </a:r>
                      <a:r>
                        <a:rPr lang="" altLang="en-US"/>
                        <a:t>ı</a:t>
                      </a:r>
                      <a:r>
                        <a:rPr lang="en-US" altLang="tr-TR"/>
                        <a:t>z (</a:t>
                      </a:r>
                      <a:r>
                        <a:rPr lang="" altLang="en-US"/>
                        <a:t>Ç</a:t>
                      </a:r>
                      <a:r>
                        <a:rPr lang="en-US" altLang="tr-TR"/>
                        <a:t>ok h</a:t>
                      </a:r>
                      <a:r>
                        <a:rPr lang="" altLang="en-US"/>
                        <a:t>ı</a:t>
                      </a:r>
                      <a:r>
                        <a:rPr lang="en-US" altLang="tr-TR"/>
                        <a:t>zl</a:t>
                      </a:r>
                      <a:r>
                        <a:rPr lang="" altLang="en-US"/>
                        <a:t>ı </a:t>
                      </a:r>
                      <a:r>
                        <a:rPr lang="en-US" altLang="tr-TR"/>
                        <a:t>ve verimli).</a:t>
                      </a:r>
                      <a:endParaRPr lang="en-US" altLang="tr-TR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tr-TR">
                <a:solidFill>
                  <a:schemeClr val="accent4">
                    <a:lumMod val="75000"/>
                  </a:schemeClr>
                </a:solidFill>
              </a:rPr>
              <a:t>Bu veri yap</a:t>
            </a:r>
            <a:r>
              <a:rPr lang="" altLang="en-US">
                <a:solidFill>
                  <a:schemeClr val="accent4">
                    <a:lumMod val="75000"/>
                  </a:schemeClr>
                </a:solidFill>
              </a:rPr>
              <a:t>ı</a:t>
            </a:r>
            <a:r>
              <a:rPr lang="en-US" altLang="tr-TR">
                <a:solidFill>
                  <a:schemeClr val="accent4">
                    <a:lumMod val="75000"/>
                  </a:schemeClr>
                </a:solidFill>
              </a:rPr>
              <a:t>lar</a:t>
            </a:r>
            <a:r>
              <a:rPr lang="" altLang="en-US">
                <a:solidFill>
                  <a:schemeClr val="accent4">
                    <a:lumMod val="75000"/>
                  </a:schemeClr>
                </a:solidFill>
              </a:rPr>
              <a:t>ı </a:t>
            </a:r>
            <a:r>
              <a:rPr lang="en-US" altLang="tr-TR">
                <a:solidFill>
                  <a:schemeClr val="accent4">
                    <a:lumMod val="75000"/>
                  </a:schemeClr>
                </a:solidFill>
              </a:rPr>
              <a:t>neden </a:t>
            </a:r>
            <a:r>
              <a:rPr lang="en-US" altLang="en-US">
                <a:solidFill>
                  <a:schemeClr val="accent4">
                    <a:lumMod val="75000"/>
                  </a:schemeClr>
                </a:solidFill>
              </a:rPr>
              <a:t>ö</a:t>
            </a:r>
            <a:r>
              <a:rPr lang="en-US" altLang="tr-TR">
                <a:solidFill>
                  <a:schemeClr val="accent4">
                    <a:lumMod val="75000"/>
                  </a:schemeClr>
                </a:solidFill>
              </a:rPr>
              <a:t>nemlidir?</a:t>
            </a:r>
            <a:endParaRPr lang="en-US" altLang="tr-TR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" name="İçerik Yer Tutucu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tr-TR" sz="4400"/>
              <a:t>B ve B+ a</a:t>
            </a:r>
            <a:r>
              <a:rPr lang="" altLang="en-US" sz="4400"/>
              <a:t>ğ</a:t>
            </a:r>
            <a:r>
              <a:rPr lang="en-US" altLang="tr-TR" sz="4400"/>
              <a:t>a</a:t>
            </a:r>
            <a:r>
              <a:rPr lang="" altLang="en-US" sz="4400"/>
              <a:t>ç</a:t>
            </a:r>
            <a:r>
              <a:rPr lang="en-US" altLang="tr-TR" sz="4400"/>
              <a:t>lar</a:t>
            </a:r>
            <a:r>
              <a:rPr lang="" altLang="en-US" sz="4400"/>
              <a:t>ı</a:t>
            </a:r>
            <a:r>
              <a:rPr lang="en-US" altLang="tr-TR" sz="4400"/>
              <a:t>n</a:t>
            </a:r>
            <a:r>
              <a:rPr lang="" altLang="en-US" sz="4400"/>
              <a:t>ı</a:t>
            </a:r>
            <a:r>
              <a:rPr lang="en-US" altLang="tr-TR" sz="4400"/>
              <a:t>n bu kadar </a:t>
            </a:r>
            <a:r>
              <a:rPr lang="en-US" altLang="en-US" sz="4400"/>
              <a:t>ö</a:t>
            </a:r>
            <a:r>
              <a:rPr lang="en-US" altLang="tr-TR" sz="4400"/>
              <a:t>nemli olmas</a:t>
            </a:r>
            <a:r>
              <a:rPr lang="" altLang="en-US" sz="4400"/>
              <a:t>ı</a:t>
            </a:r>
            <a:r>
              <a:rPr lang="en-US" altLang="tr-TR" sz="4400"/>
              <a:t>n</a:t>
            </a:r>
            <a:r>
              <a:rPr lang="" altLang="en-US" sz="4400"/>
              <a:t>ı</a:t>
            </a:r>
            <a:r>
              <a:rPr lang="en-US" altLang="tr-TR" sz="4400"/>
              <a:t>n sebebi, b</a:t>
            </a:r>
            <a:r>
              <a:rPr lang="en-US" altLang="en-US" sz="4400"/>
              <a:t>ü</a:t>
            </a:r>
            <a:r>
              <a:rPr lang="en-US" altLang="tr-TR" sz="4400"/>
              <a:t>y</a:t>
            </a:r>
            <a:r>
              <a:rPr lang="en-US" altLang="en-US" sz="4400"/>
              <a:t>ü</a:t>
            </a:r>
            <a:r>
              <a:rPr lang="en-US" altLang="tr-TR" sz="4400"/>
              <a:t>k miktardaki veriyi en az </a:t>
            </a:r>
            <a:r>
              <a:rPr lang="" altLang="en-US" sz="4400"/>
              <a:t>ç</a:t>
            </a:r>
            <a:r>
              <a:rPr lang="en-US" altLang="tr-TR" sz="4400"/>
              <a:t>abayla y</a:t>
            </a:r>
            <a:r>
              <a:rPr lang="en-US" altLang="en-US" sz="4400"/>
              <a:t>ö</a:t>
            </a:r>
            <a:r>
              <a:rPr lang="en-US" altLang="tr-TR" sz="4400"/>
              <a:t>netebilmeleridir.</a:t>
            </a:r>
            <a:r>
              <a:rPr lang="tr-TR" altLang="en-US" sz="4400"/>
              <a:t>Aradığınız veriyi daha az zaman harcayarak bulunmanızı sağlar.Bilgisayarı yormaz.Düzenlidir.</a:t>
            </a:r>
            <a:endParaRPr lang="tr-TR" altLang="en-US" sz="44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tr-TR">
                <a:solidFill>
                  <a:schemeClr val="accent4">
                    <a:lumMod val="75000"/>
                  </a:schemeClr>
                </a:solidFill>
              </a:rPr>
              <a:t>B</a:t>
            </a:r>
            <a:r>
              <a:rPr lang="en-US" altLang="en-US">
                <a:solidFill>
                  <a:schemeClr val="accent4">
                    <a:lumMod val="75000"/>
                  </a:schemeClr>
                </a:solidFill>
              </a:rPr>
              <a:t>ü</a:t>
            </a:r>
            <a:r>
              <a:rPr lang="en-US" altLang="tr-TR">
                <a:solidFill>
                  <a:schemeClr val="accent4">
                    <a:lumMod val="75000"/>
                  </a:schemeClr>
                </a:solidFill>
              </a:rPr>
              <a:t>y</a:t>
            </a:r>
            <a:r>
              <a:rPr lang="en-US" altLang="en-US">
                <a:solidFill>
                  <a:schemeClr val="accent4">
                    <a:lumMod val="75000"/>
                  </a:schemeClr>
                </a:solidFill>
              </a:rPr>
              <a:t>ü</a:t>
            </a:r>
            <a:r>
              <a:rPr lang="en-US" altLang="tr-TR">
                <a:solidFill>
                  <a:schemeClr val="accent4">
                    <a:lumMod val="75000"/>
                  </a:schemeClr>
                </a:solidFill>
              </a:rPr>
              <a:t>k veri </a:t>
            </a:r>
            <a:r>
              <a:rPr lang="" altLang="en-US">
                <a:solidFill>
                  <a:schemeClr val="accent4">
                    <a:lumMod val="75000"/>
                  </a:schemeClr>
                </a:solidFill>
              </a:rPr>
              <a:t>ç</a:t>
            </a:r>
            <a:r>
              <a:rPr lang="en-US" altLang="tr-TR">
                <a:solidFill>
                  <a:schemeClr val="accent4">
                    <a:lumMod val="75000"/>
                  </a:schemeClr>
                </a:solidFill>
              </a:rPr>
              <a:t>a</a:t>
            </a:r>
            <a:r>
              <a:rPr lang="" altLang="en-US">
                <a:solidFill>
                  <a:schemeClr val="accent4">
                    <a:lumMod val="75000"/>
                  </a:schemeClr>
                </a:solidFill>
              </a:rPr>
              <a:t>ğı</a:t>
            </a:r>
            <a:r>
              <a:rPr lang="en-US" altLang="tr-TR">
                <a:solidFill>
                  <a:schemeClr val="accent4">
                    <a:lumMod val="75000"/>
                  </a:schemeClr>
                </a:solidFill>
              </a:rPr>
              <a:t>nda neden ihtiya</a:t>
            </a:r>
            <a:r>
              <a:rPr lang="" altLang="en-US">
                <a:solidFill>
                  <a:schemeClr val="accent4">
                    <a:lumMod val="75000"/>
                  </a:schemeClr>
                </a:solidFill>
              </a:rPr>
              <a:t>ç </a:t>
            </a:r>
            <a:r>
              <a:rPr lang="en-US" altLang="tr-TR">
                <a:solidFill>
                  <a:schemeClr val="accent4">
                    <a:lumMod val="75000"/>
                  </a:schemeClr>
                </a:solidFill>
              </a:rPr>
              <a:t>duyulmaktad</a:t>
            </a:r>
            <a:r>
              <a:rPr lang="" altLang="en-US">
                <a:solidFill>
                  <a:schemeClr val="accent4">
                    <a:lumMod val="75000"/>
                  </a:schemeClr>
                </a:solidFill>
              </a:rPr>
              <a:t>ı</a:t>
            </a:r>
            <a:r>
              <a:rPr lang="en-US" altLang="tr-TR">
                <a:solidFill>
                  <a:schemeClr val="accent4">
                    <a:lumMod val="75000"/>
                  </a:schemeClr>
                </a:solidFill>
              </a:rPr>
              <a:t>r?</a:t>
            </a:r>
            <a:endParaRPr lang="en-US" altLang="tr-TR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" name="İçerik Yer Tutucu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tr-TR" altLang="en-US" sz="4400"/>
              <a:t>Verilere çok hızlı erişm sağlar. Veriler arasında koybolmamanızı sağlar.Veri eklenip silinirken dengeli yapının bozulmamasını sağlar.</a:t>
            </a:r>
            <a:endParaRPr lang="tr-TR" altLang="en-US" sz="4400"/>
          </a:p>
          <a:p>
            <a:r>
              <a:rPr lang="en-US" altLang="tr-TR" sz="4400"/>
              <a:t>Veritaban</a:t>
            </a:r>
            <a:r>
              <a:rPr lang="" altLang="en-US" sz="4400"/>
              <a:t>ı </a:t>
            </a:r>
            <a:r>
              <a:rPr lang="en-US" altLang="tr-TR" sz="4400"/>
              <a:t>sistemlerinde (MySQL, Oracle gibi) indeksleme i</a:t>
            </a:r>
            <a:r>
              <a:rPr lang="" altLang="en-US" sz="4400"/>
              <a:t>ç</a:t>
            </a:r>
            <a:r>
              <a:rPr lang="en-US" altLang="tr-TR" sz="4400"/>
              <a:t>in </a:t>
            </a:r>
            <a:r>
              <a:rPr lang="" altLang="en-US" sz="4400"/>
              <a:t>ç</a:t>
            </a:r>
            <a:r>
              <a:rPr lang="en-US" altLang="tr-TR" sz="4400"/>
              <a:t>ok uygundurlar.</a:t>
            </a:r>
            <a:endParaRPr lang="en-US" altLang="tr-TR" sz="4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tr-TR">
                <a:solidFill>
                  <a:schemeClr val="accent4">
                    <a:lumMod val="75000"/>
                  </a:schemeClr>
                </a:solidFill>
              </a:rPr>
              <a:t>Sizce gelecekte de kullan</a:t>
            </a:r>
            <a:r>
              <a:rPr lang="" altLang="en-US">
                <a:solidFill>
                  <a:schemeClr val="accent4">
                    <a:lumMod val="75000"/>
                  </a:schemeClr>
                </a:solidFill>
              </a:rPr>
              <a:t>ı</a:t>
            </a:r>
            <a:r>
              <a:rPr lang="en-US" altLang="tr-TR">
                <a:solidFill>
                  <a:schemeClr val="accent4">
                    <a:lumMod val="75000"/>
                  </a:schemeClr>
                </a:solidFill>
              </a:rPr>
              <a:t>lmaya devam edecek midir?</a:t>
            </a:r>
            <a:endParaRPr lang="en-US" altLang="tr-TR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" name="İçerik Yer Tutucu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tr-TR" altLang="en-US" sz="4400">
                <a:solidFill>
                  <a:schemeClr val="tx1"/>
                </a:solidFill>
              </a:rPr>
              <a:t>Kullanım açısından çok fazla avantajı olduğu için gelecekte de kullanılacağını düşünüyorum. Ancak gelecekte yapay zekanın yardımıyla işlemlerin daha hızlı ve daha kolay şekilde gerçekleştirileceğini düşünüyorum. </a:t>
            </a:r>
            <a:endParaRPr lang="tr-TR" altLang="en-US" sz="44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9865</Words>
  <Application>WPS Sunum</Application>
  <PresentationFormat>Widescreen</PresentationFormat>
  <Paragraphs>141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3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Yıldız</dc:creator>
  <cp:lastModifiedBy>Yıldız Şahin</cp:lastModifiedBy>
  <cp:revision>4</cp:revision>
  <dcterms:created xsi:type="dcterms:W3CDTF">2025-07-23T00:59:00Z</dcterms:created>
  <dcterms:modified xsi:type="dcterms:W3CDTF">2026-05-18T11:27:06Z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C13160B8191C45948384F711F802A38A_13</vt:lpwstr>
  </property>
  <property fmtid="{D5CDD505-2E9C-101B-9397-08002B2CF9AE}" pid="3" name="KSOProductBuildVer">
    <vt:lpwstr>1055-12.1.0.25862</vt:lpwstr>
  </property>
</Properties>
</file>